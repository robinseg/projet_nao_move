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75" r:id="rId2"/>
    <p:sldId id="286" r:id="rId3"/>
    <p:sldId id="262" r:id="rId4"/>
    <p:sldId id="259" r:id="rId5"/>
    <p:sldId id="258" r:id="rId6"/>
    <p:sldId id="283" r:id="rId7"/>
    <p:sldId id="263" r:id="rId8"/>
    <p:sldId id="264" r:id="rId9"/>
    <p:sldId id="265" r:id="rId10"/>
    <p:sldId id="267" r:id="rId11"/>
    <p:sldId id="268" r:id="rId12"/>
    <p:sldId id="269" r:id="rId13"/>
    <p:sldId id="287" r:id="rId14"/>
    <p:sldId id="289" r:id="rId15"/>
    <p:sldId id="291" r:id="rId16"/>
    <p:sldId id="272" r:id="rId17"/>
    <p:sldId id="288" r:id="rId18"/>
    <p:sldId id="290" r:id="rId19"/>
    <p:sldId id="273" r:id="rId20"/>
    <p:sldId id="274" r:id="rId21"/>
    <p:sldId id="285" r:id="rId22"/>
    <p:sldId id="279" r:id="rId2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55B"/>
    <a:srgbClr val="23154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3043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-900" y="-42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DF1240-5C11-4B1F-B138-B6165B7BD186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C8D5C3-0B5C-4C25-A8FE-3397432BBE53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31226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900030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850267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796366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312670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2426286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1266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8035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438066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3189560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532924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59F6E5-F446-4958-95F1-54FD9DCABCFA}" type="datetimeFigureOut">
              <a:rPr lang="fr-FR" smtClean="0"/>
              <a:pPr/>
              <a:t>26/01/2022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0C7253-B768-40CC-8F18-12FB0D09E81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2782114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vincent.bonin@uphf.f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mailto:vincent.bonin@uphf.fr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ncent.bonin@uphf.fr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ncent.bonin@uphf.fr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mailto:vincent.bonin@uphf.fr" TargetMode="External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jpeg"/><Relationship Id="rId5" Type="http://schemas.openxmlformats.org/officeDocument/2006/relationships/hyperlink" Target="http://rds.yahoo.com/S=96062857/K=einstein/v=2/SID=e/l=II/R=7/*-http:/images.search.yahoo.com/search/images/view?back=http://images.search.yahoo.com/search/images?p=einstein&amp;ei=UTF-8&amp;cop=mss&amp;tab=3&amp;h=246&amp;w=200&amp;imgcurl=www.hollywoodlegends.com/images/einstein.gif&amp;imgurl=www.hollywoodlegends.com/images/einstein.gif&amp;name=%3cb%3eeinstein%3c/b%3e.gif&amp;p=einstein&amp;rurl=http://www.hollywoodlegends.com/albert-einstein.html&amp;rcurl=http://www.hollywoodlegends.com/albert-einstein.html&amp;type=&amp;no=7&amp;tt=73,900" TargetMode="External"/><Relationship Id="rId4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ncent.bonin@uphf.fr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vincent.bonin@uphf.fr" TargetMode="Externa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vincent.bonin@uphf.fr" TargetMode="External"/><Relationship Id="rId5" Type="http://schemas.openxmlformats.org/officeDocument/2006/relationships/image" Target="../media/image11.emf"/><Relationship Id="rId4" Type="http://schemas.openxmlformats.org/officeDocument/2006/relationships/image" Target="../media/image10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ncent.bonin@uphf.fr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vincent.bonin@uphf.fr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vincent.bonin@uphf.fr" TargetMode="External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vincent.bonin@uphf.fr" TargetMode="Externa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mailto:vincent.bonin@uphf.fr" TargetMode="Externa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hyperlink" Target="mailto:vincent.bonin@uphf.fr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vincent.bonin@uphf.fr" TargetMode="Externa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mailto:vincent.bonin@uphf.fr" TargetMode="Externa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mailto:vincent.bonin@uphf.fr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590204" y="423949"/>
            <a:ext cx="10573789" cy="1446550"/>
          </a:xfrm>
          <a:prstGeom prst="rect">
            <a:avLst/>
          </a:prstGeom>
          <a:noFill/>
          <a:ln w="539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sz="4400" dirty="0" smtClean="0"/>
              <a:t>Formation pratique à l’</a:t>
            </a:r>
            <a:r>
              <a:rPr lang="fr-FR" sz="4400" dirty="0" err="1" smtClean="0"/>
              <a:t>AMélioration</a:t>
            </a:r>
            <a:r>
              <a:rPr lang="fr-FR" sz="4400" dirty="0" smtClean="0"/>
              <a:t> Continue</a:t>
            </a:r>
          </a:p>
          <a:p>
            <a:pPr algn="ctr"/>
            <a:r>
              <a:rPr lang="fr-FR" sz="4400" dirty="0" smtClean="0"/>
              <a:t>&amp; à la recherche de solution</a:t>
            </a:r>
            <a:endParaRPr lang="fr-FR" sz="4400" dirty="0"/>
          </a:p>
        </p:txBody>
      </p:sp>
      <p:sp>
        <p:nvSpPr>
          <p:cNvPr id="6" name="ZoneTexte 5"/>
          <p:cNvSpPr txBox="1"/>
          <p:nvPr/>
        </p:nvSpPr>
        <p:spPr>
          <a:xfrm>
            <a:off x="1488789" y="2230244"/>
            <a:ext cx="840335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u="sng" dirty="0" smtClean="0"/>
              <a:t>Sommaire:</a:t>
            </a:r>
          </a:p>
          <a:p>
            <a:endParaRPr lang="fr-FR" sz="2800" u="sng" dirty="0" smtClean="0"/>
          </a:p>
          <a:p>
            <a:r>
              <a:rPr lang="fr-FR" sz="2800" dirty="0" smtClean="0"/>
              <a:t>1/définition et notions primordiales</a:t>
            </a:r>
          </a:p>
          <a:p>
            <a:r>
              <a:rPr lang="fr-FR" sz="2800" dirty="0" smtClean="0"/>
              <a:t> </a:t>
            </a:r>
          </a:p>
          <a:p>
            <a:r>
              <a:rPr lang="fr-FR" sz="2800" dirty="0" smtClean="0"/>
              <a:t>2/ la fiche action industrielle typique et ses outils</a:t>
            </a:r>
          </a:p>
          <a:p>
            <a:endParaRPr lang="fr-FR" sz="2800" dirty="0"/>
          </a:p>
          <a:p>
            <a:r>
              <a:rPr lang="fr-FR" sz="2800" dirty="0" smtClean="0"/>
              <a:t>3/ exercices</a:t>
            </a:r>
            <a:endParaRPr lang="fr-FR" sz="2800" dirty="0"/>
          </a:p>
        </p:txBody>
      </p:sp>
      <p:grpSp>
        <p:nvGrpSpPr>
          <p:cNvPr id="13" name="Groupe 1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6" name="ZoneTexte 15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7" name="Connecteur droit 6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eur droit 9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260655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/>
          <p:cNvSpPr txBox="1"/>
          <p:nvPr/>
        </p:nvSpPr>
        <p:spPr>
          <a:xfrm>
            <a:off x="408133" y="343255"/>
            <a:ext cx="111216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 smtClean="0"/>
              <a:t>Sommaire:</a:t>
            </a:r>
          </a:p>
          <a:p>
            <a:endParaRPr lang="fr-FR" sz="4800" u="sng" dirty="0" smtClean="0"/>
          </a:p>
          <a:p>
            <a:r>
              <a:rPr lang="fr-FR" sz="4800" dirty="0" smtClean="0">
                <a:solidFill>
                  <a:srgbClr val="92D050"/>
                </a:solidFill>
              </a:rPr>
              <a:t>1/définition et notions primordiales</a:t>
            </a:r>
          </a:p>
          <a:p>
            <a:r>
              <a:rPr lang="fr-FR" sz="4800" dirty="0" smtClean="0"/>
              <a:t> </a:t>
            </a:r>
          </a:p>
          <a:p>
            <a:r>
              <a:rPr lang="fr-FR" sz="4800" dirty="0" smtClean="0"/>
              <a:t>2/ la fiche action industrielle typique et ses outils</a:t>
            </a:r>
          </a:p>
          <a:p>
            <a:endParaRPr lang="fr-FR" sz="4800" dirty="0"/>
          </a:p>
          <a:p>
            <a:r>
              <a:rPr lang="fr-FR" sz="4800" dirty="0" smtClean="0"/>
              <a:t>3/ exercices</a:t>
            </a:r>
            <a:endParaRPr lang="fr-FR" sz="4800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" name="ZoneTexte 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6" name="Connecteur droit 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eur droit 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ZoneTexte 18"/>
          <p:cNvSpPr txBox="1"/>
          <p:nvPr/>
        </p:nvSpPr>
        <p:spPr>
          <a:xfrm>
            <a:off x="255130" y="385630"/>
            <a:ext cx="27579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>
                <a:latin typeface="Bodoni MT" panose="02070603080606020203" pitchFamily="18" charset="0"/>
              </a:rPr>
              <a:t>« Vaut ’il mieux donner un poisson à un mendiant et ainsi résoudre son problème à sa place?</a:t>
            </a:r>
            <a:endParaRPr lang="fr-FR" sz="1400" i="1" dirty="0">
              <a:latin typeface="Bodoni MT" panose="02070603080606020203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8610600" y="385631"/>
            <a:ext cx="3053650" cy="9525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i="1" dirty="0" smtClean="0">
                <a:latin typeface="Bodoni MT" panose="02070603080606020203" pitchFamily="18" charset="0"/>
              </a:rPr>
              <a:t>Ou lui apprendre à pêcher? »</a:t>
            </a:r>
          </a:p>
          <a:p>
            <a:r>
              <a:rPr lang="fr-FR" sz="1400" i="1" dirty="0" smtClean="0">
                <a:latin typeface="Bodoni MT" panose="02070603080606020203" pitchFamily="18" charset="0"/>
              </a:rPr>
              <a:t>Ce qui implique  de lui </a:t>
            </a:r>
            <a:r>
              <a:rPr lang="fr-FR" sz="1400" i="1" dirty="0" smtClean="0">
                <a:solidFill>
                  <a:srgbClr val="00B050"/>
                </a:solidFill>
                <a:latin typeface="Bodoni MT" panose="02070603080606020203" pitchFamily="18" charset="0"/>
              </a:rPr>
              <a:t>faire confiance </a:t>
            </a:r>
            <a:r>
              <a:rPr lang="fr-FR" sz="1400" i="1" dirty="0" smtClean="0">
                <a:latin typeface="Bodoni MT" panose="02070603080606020203" pitchFamily="18" charset="0"/>
              </a:rPr>
              <a:t>et qu’il n’aura plus jamais besoin de nous…..</a:t>
            </a:r>
            <a:endParaRPr lang="fr-FR" sz="1400" i="1" dirty="0">
              <a:latin typeface="Bodoni MT" panose="02070603080606020203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4519530" y="251627"/>
            <a:ext cx="246316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 smtClean="0"/>
              <a:t>AMCO</a:t>
            </a:r>
            <a:endParaRPr lang="fr-FR" sz="6600" dirty="0"/>
          </a:p>
        </p:txBody>
      </p:sp>
      <p:sp>
        <p:nvSpPr>
          <p:cNvPr id="3" name="ZoneTexte 2"/>
          <p:cNvSpPr txBox="1"/>
          <p:nvPr/>
        </p:nvSpPr>
        <p:spPr>
          <a:xfrm>
            <a:off x="1200645" y="1516566"/>
            <a:ext cx="274688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Répétabilité</a:t>
            </a:r>
            <a:r>
              <a:rPr lang="fr-FR" dirty="0" smtClean="0">
                <a:solidFill>
                  <a:srgbClr val="00B050"/>
                </a:solidFill>
              </a:rPr>
              <a:t> </a:t>
            </a:r>
            <a:r>
              <a:rPr lang="fr-FR" dirty="0" smtClean="0"/>
              <a:t>dans le travail</a:t>
            </a:r>
          </a:p>
          <a:p>
            <a:r>
              <a:rPr lang="fr-FR" dirty="0" smtClean="0"/>
              <a:t>(standard)</a:t>
            </a:r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7676173" y="1753502"/>
            <a:ext cx="301752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Observations</a:t>
            </a:r>
            <a:r>
              <a:rPr lang="fr-FR" dirty="0" smtClean="0">
                <a:solidFill>
                  <a:srgbClr val="00B050"/>
                </a:solidFill>
              </a:rPr>
              <a:t> </a:t>
            </a:r>
            <a:r>
              <a:rPr lang="fr-FR" dirty="0" smtClean="0"/>
              <a:t>de terrains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4574067" y="2006780"/>
            <a:ext cx="2475571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Constat de divergence </a:t>
            </a:r>
          </a:p>
          <a:p>
            <a:pPr algn="ctr"/>
            <a:r>
              <a:rPr lang="fr-FR" dirty="0" smtClean="0"/>
              <a:t>(en + ou en - )</a:t>
            </a:r>
          </a:p>
          <a:p>
            <a:pPr algn="ctr"/>
            <a:r>
              <a:rPr lang="fr-FR" b="1" dirty="0" smtClean="0">
                <a:solidFill>
                  <a:srgbClr val="FF0000"/>
                </a:solidFill>
              </a:rPr>
              <a:t>Ne jamais être satisfait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3954966" y="3337146"/>
            <a:ext cx="341434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Prise de recul  / irritants</a:t>
            </a:r>
          </a:p>
          <a:p>
            <a:pPr algn="ctr"/>
            <a:r>
              <a:rPr lang="fr-FR" b="1" dirty="0" smtClean="0"/>
              <a:t>Criticité = gravité * </a:t>
            </a:r>
            <a:r>
              <a:rPr lang="fr-FR" b="1" dirty="0" smtClean="0">
                <a:solidFill>
                  <a:srgbClr val="FF0000"/>
                </a:solidFill>
              </a:rPr>
              <a:t>fréquence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3844892" y="4279001"/>
            <a:ext cx="3710773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Démarche AMCO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 smtClean="0"/>
              <a:t>1 tien vaut mieux que 2 tu l’auras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rgbClr val="FF0000"/>
                </a:solidFill>
              </a:rPr>
              <a:t>L’optimum </a:t>
            </a:r>
            <a:r>
              <a:rPr lang="fr-FR" dirty="0" smtClean="0"/>
              <a:t>est visé mais ce </a:t>
            </a:r>
            <a:r>
              <a:rPr lang="fr-FR" b="1" dirty="0" smtClean="0">
                <a:solidFill>
                  <a:srgbClr val="FF0000"/>
                </a:solidFill>
              </a:rPr>
              <a:t>n’est pas pour aujourd’hui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rgbClr val="FF0000"/>
                </a:solidFill>
              </a:rPr>
              <a:t>Non retour en arrière</a:t>
            </a: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76653" y="3398867"/>
            <a:ext cx="3306539" cy="1983292"/>
          </a:xfrm>
          <a:prstGeom prst="rect">
            <a:avLst/>
          </a:prstGeom>
        </p:spPr>
      </p:pic>
      <p:pic>
        <p:nvPicPr>
          <p:cNvPr id="30" name="Image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85835" y="3351055"/>
            <a:ext cx="3242048" cy="2030200"/>
          </a:xfrm>
          <a:prstGeom prst="rect">
            <a:avLst/>
          </a:prstGeom>
        </p:spPr>
      </p:pic>
      <p:cxnSp>
        <p:nvCxnSpPr>
          <p:cNvPr id="32" name="Connecteur droit 31"/>
          <p:cNvCxnSpPr/>
          <p:nvPr/>
        </p:nvCxnSpPr>
        <p:spPr>
          <a:xfrm>
            <a:off x="255130" y="3398867"/>
            <a:ext cx="2757977" cy="2150822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>
            <a:off x="273714" y="3428606"/>
            <a:ext cx="2757977" cy="2150822"/>
          </a:xfrm>
          <a:prstGeom prst="line">
            <a:avLst/>
          </a:prstGeom>
          <a:ln w="412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7917366" y="3231337"/>
            <a:ext cx="3880624" cy="2372327"/>
          </a:xfrm>
          <a:prstGeom prst="rect">
            <a:avLst/>
          </a:prstGeom>
          <a:noFill/>
          <a:ln w="444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Connecteur droit avec flèche 35"/>
          <p:cNvCxnSpPr/>
          <p:nvPr/>
        </p:nvCxnSpPr>
        <p:spPr>
          <a:xfrm>
            <a:off x="3954966" y="2006780"/>
            <a:ext cx="619101" cy="15611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flipH="1">
            <a:off x="7059756" y="2006126"/>
            <a:ext cx="619101" cy="156117"/>
          </a:xfrm>
          <a:prstGeom prst="straightConnector1">
            <a:avLst/>
          </a:prstGeom>
          <a:ln w="317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avec flèche 38"/>
          <p:cNvCxnSpPr>
            <a:stCxn id="9" idx="2"/>
          </p:cNvCxnSpPr>
          <p:nvPr/>
        </p:nvCxnSpPr>
        <p:spPr>
          <a:xfrm flipH="1">
            <a:off x="5811852" y="2930110"/>
            <a:ext cx="1" cy="420945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avec flèche 39"/>
          <p:cNvCxnSpPr/>
          <p:nvPr/>
        </p:nvCxnSpPr>
        <p:spPr>
          <a:xfrm flipH="1">
            <a:off x="5811852" y="3969568"/>
            <a:ext cx="2" cy="304817"/>
          </a:xfrm>
          <a:prstGeom prst="straightConnector1">
            <a:avLst/>
          </a:prstGeom>
          <a:ln w="412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/>
          <p:cNvSpPr txBox="1"/>
          <p:nvPr/>
        </p:nvSpPr>
        <p:spPr>
          <a:xfrm>
            <a:off x="2078183" y="6076603"/>
            <a:ext cx="794696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 smtClean="0"/>
              <a:t>L’AMCO c’est la recherche de solution pour de (petits) problèmes du quotidien  </a:t>
            </a:r>
          </a:p>
          <a:p>
            <a:pPr algn="ctr"/>
            <a:r>
              <a:rPr lang="fr-FR" dirty="0" smtClean="0"/>
              <a:t>ne nécessitant pas de </a:t>
            </a:r>
            <a:r>
              <a:rPr lang="fr-FR" dirty="0" err="1" smtClean="0"/>
              <a:t>CdC</a:t>
            </a:r>
            <a:r>
              <a:rPr lang="fr-FR" dirty="0" smtClean="0"/>
              <a:t>  mais nécessitant  une gestion de projet</a:t>
            </a:r>
            <a:endParaRPr lang="fr-FR" dirty="0"/>
          </a:p>
        </p:txBody>
      </p:sp>
      <p:grpSp>
        <p:nvGrpSpPr>
          <p:cNvPr id="21" name="Groupe 20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22" name="ZoneTexte 21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23" name="Connecteur droit 22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67640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" grpId="0"/>
      <p:bldP spid="3" grpId="0" animBg="1"/>
      <p:bldP spid="7" grpId="0" animBg="1"/>
      <p:bldP spid="9" grpId="0" animBg="1"/>
      <p:bldP spid="11" grpId="0" animBg="1"/>
      <p:bldP spid="13" grpId="0" animBg="1"/>
      <p:bldP spid="34" grpId="0" animBg="1"/>
      <p:bldP spid="3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3106" t="32339"/>
          <a:stretch/>
        </p:blipFill>
        <p:spPr>
          <a:xfrm>
            <a:off x="2854961" y="2334587"/>
            <a:ext cx="5821679" cy="3084346"/>
          </a:xfrm>
          <a:prstGeom prst="rect">
            <a:avLst/>
          </a:prstGeom>
        </p:spPr>
      </p:pic>
      <p:sp>
        <p:nvSpPr>
          <p:cNvPr id="6" name="ZoneTexte 5"/>
          <p:cNvSpPr txBox="1"/>
          <p:nvPr/>
        </p:nvSpPr>
        <p:spPr>
          <a:xfrm>
            <a:off x="274320" y="223520"/>
            <a:ext cx="1176528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400" u="sng" dirty="0" smtClean="0"/>
              <a:t>La </a:t>
            </a:r>
            <a:r>
              <a:rPr lang="fr-FR" sz="4400" b="1" u="sng" dirty="0" smtClean="0"/>
              <a:t>méthodologie de base :</a:t>
            </a:r>
          </a:p>
          <a:p>
            <a:pPr algn="ctr"/>
            <a:r>
              <a:rPr lang="fr-FR" sz="4400" b="1" u="sng" dirty="0" smtClean="0"/>
              <a:t> PDCA</a:t>
            </a:r>
            <a:r>
              <a:rPr lang="fr-FR" sz="4400" u="sng" dirty="0" smtClean="0"/>
              <a:t> / roue de Deming </a:t>
            </a:r>
            <a:r>
              <a:rPr lang="fr-FR" sz="1200" u="sng" dirty="0" smtClean="0"/>
              <a:t>(1900-1992)</a:t>
            </a:r>
            <a:endParaRPr lang="fr-FR" sz="1200" u="sng" dirty="0"/>
          </a:p>
        </p:txBody>
      </p:sp>
      <p:sp>
        <p:nvSpPr>
          <p:cNvPr id="3" name="Rectangle 2"/>
          <p:cNvSpPr/>
          <p:nvPr/>
        </p:nvSpPr>
        <p:spPr>
          <a:xfrm>
            <a:off x="2854961" y="2334587"/>
            <a:ext cx="1035395" cy="1675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ZoneTexte 3"/>
          <p:cNvSpPr txBox="1"/>
          <p:nvPr/>
        </p:nvSpPr>
        <p:spPr>
          <a:xfrm>
            <a:off x="4804757" y="5690981"/>
            <a:ext cx="27598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Prendre garde à 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8759767" y="2881279"/>
            <a:ext cx="320224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Une bonne </a:t>
            </a:r>
            <a:r>
              <a:rPr lang="fr-FR" sz="1400" b="1" dirty="0" smtClean="0">
                <a:solidFill>
                  <a:srgbClr val="FF0000"/>
                </a:solidFill>
              </a:rPr>
              <a:t>formulation du problème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Trouver les </a:t>
            </a:r>
            <a:r>
              <a:rPr lang="fr-FR" sz="1400" b="1" dirty="0" smtClean="0">
                <a:solidFill>
                  <a:srgbClr val="FF0000"/>
                </a:solidFill>
              </a:rPr>
              <a:t>causes racines pour y remédier </a:t>
            </a:r>
            <a:r>
              <a:rPr lang="fr-FR" sz="1400" b="1" dirty="0" smtClean="0"/>
              <a:t>et ne pas remédier à l’effet</a:t>
            </a:r>
          </a:p>
          <a:p>
            <a:endParaRPr lang="fr-FR" sz="1400" b="1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sz="1400" dirty="0"/>
          </a:p>
        </p:txBody>
      </p:sp>
      <p:sp>
        <p:nvSpPr>
          <p:cNvPr id="7" name="ZoneTexte 6"/>
          <p:cNvSpPr txBox="1"/>
          <p:nvPr/>
        </p:nvSpPr>
        <p:spPr>
          <a:xfrm>
            <a:off x="8759767" y="4164676"/>
            <a:ext cx="343223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Au </a:t>
            </a:r>
            <a:r>
              <a:rPr lang="fr-FR" sz="1400" b="1" dirty="0" smtClean="0">
                <a:solidFill>
                  <a:srgbClr val="FF0000"/>
                </a:solidFill>
              </a:rPr>
              <a:t>régime transitoire </a:t>
            </a:r>
            <a:r>
              <a:rPr lang="fr-FR" sz="1400" dirty="0" smtClean="0"/>
              <a:t>amenant à la solution souhaitée </a:t>
            </a:r>
          </a:p>
          <a:p>
            <a:r>
              <a:rPr lang="fr-FR" sz="1400" dirty="0"/>
              <a:t> </a:t>
            </a:r>
            <a:r>
              <a:rPr lang="fr-FR" sz="1400" dirty="0" smtClean="0"/>
              <a:t>      qui peut amener un recul TEMPORAIRE</a:t>
            </a:r>
          </a:p>
          <a:p>
            <a:r>
              <a:rPr lang="fr-FR" sz="1400" dirty="0"/>
              <a:t> </a:t>
            </a:r>
            <a:r>
              <a:rPr lang="fr-FR" sz="1400" dirty="0" smtClean="0"/>
              <a:t>     (ex: modification de </a:t>
            </a:r>
            <a:r>
              <a:rPr lang="fr-FR" sz="1400" dirty="0" err="1" smtClean="0"/>
              <a:t>SdB</a:t>
            </a:r>
            <a:r>
              <a:rPr lang="fr-FR" sz="1400" dirty="0" smtClean="0"/>
              <a:t>)</a:t>
            </a:r>
            <a:endParaRPr lang="fr-FR" sz="1400" dirty="0"/>
          </a:p>
        </p:txBody>
      </p:sp>
      <p:sp>
        <p:nvSpPr>
          <p:cNvPr id="8" name="ZoneTexte 7"/>
          <p:cNvSpPr txBox="1"/>
          <p:nvPr/>
        </p:nvSpPr>
        <p:spPr>
          <a:xfrm>
            <a:off x="274320" y="4098175"/>
            <a:ext cx="25806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La mise en place d’</a:t>
            </a:r>
            <a:r>
              <a:rPr lang="fr-FR" sz="1400" b="1" dirty="0" smtClean="0">
                <a:solidFill>
                  <a:srgbClr val="FF0000"/>
                </a:solidFill>
              </a:rPr>
              <a:t>indicateur(s) </a:t>
            </a:r>
            <a:r>
              <a:rPr lang="fr-FR" sz="1400" dirty="0" smtClean="0"/>
              <a:t>permettant de mesurer le gain du projet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Une </a:t>
            </a:r>
            <a:r>
              <a:rPr lang="fr-FR" sz="1400" b="1" dirty="0" smtClean="0">
                <a:solidFill>
                  <a:srgbClr val="FF0000"/>
                </a:solidFill>
              </a:rPr>
              <a:t>vérification sur le terrain</a:t>
            </a:r>
            <a:endParaRPr lang="fr-FR" sz="1400" b="1" dirty="0">
              <a:solidFill>
                <a:srgbClr val="FF0000"/>
              </a:solidFill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274320" y="2688698"/>
            <a:ext cx="36160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Mettre à jours les </a:t>
            </a:r>
            <a:r>
              <a:rPr lang="fr-FR" sz="1400" b="1" dirty="0" smtClean="0">
                <a:solidFill>
                  <a:srgbClr val="FF0000"/>
                </a:solidFill>
              </a:rPr>
              <a:t>standards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Ne pas oublier de </a:t>
            </a:r>
            <a:r>
              <a:rPr lang="fr-FR" sz="1400" b="1" dirty="0" smtClean="0">
                <a:solidFill>
                  <a:srgbClr val="FF0000"/>
                </a:solidFill>
              </a:rPr>
              <a:t>pérenniser</a:t>
            </a:r>
            <a:r>
              <a:rPr lang="fr-FR" sz="1400" dirty="0" smtClean="0">
                <a:solidFill>
                  <a:srgbClr val="FF0000"/>
                </a:solidFill>
              </a:rPr>
              <a:t> </a:t>
            </a:r>
            <a:r>
              <a:rPr lang="fr-FR" sz="1400" dirty="0" smtClean="0"/>
              <a:t>par la mise en place de </a:t>
            </a:r>
            <a:r>
              <a:rPr lang="fr-FR" sz="1400" i="1" dirty="0" err="1" smtClean="0"/>
              <a:t>pokayoké</a:t>
            </a:r>
            <a:r>
              <a:rPr lang="fr-FR" sz="1400" dirty="0" smtClean="0"/>
              <a:t> si possible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sz="1400" dirty="0" smtClean="0"/>
              <a:t>Finaliser le projet (Rex)</a:t>
            </a:r>
            <a:endParaRPr lang="fr-FR" sz="1400" dirty="0"/>
          </a:p>
        </p:txBody>
      </p:sp>
      <p:grpSp>
        <p:nvGrpSpPr>
          <p:cNvPr id="10" name="Groupe 9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1" name="ZoneTexte 10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3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1913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8592" y="46042"/>
            <a:ext cx="10375957" cy="1325563"/>
          </a:xfrm>
        </p:spPr>
        <p:txBody>
          <a:bodyPr>
            <a:normAutofit/>
          </a:bodyPr>
          <a:lstStyle/>
          <a:p>
            <a:r>
              <a:rPr lang="fr-FR" sz="3600" b="1" u="sng" dirty="0" smtClean="0">
                <a:latin typeface="+mn-lt"/>
              </a:rPr>
              <a:t>Les différentes variantes de gestions de problèmes</a:t>
            </a:r>
            <a:endParaRPr lang="fr-FR" sz="3600" b="1" u="sng" dirty="0">
              <a:latin typeface="+mn-lt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4678967" y="1344188"/>
            <a:ext cx="125945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PDCA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Plan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Check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 smtClean="0"/>
              <a:t>Act</a:t>
            </a:r>
            <a:endParaRPr lang="fr-FR" dirty="0" smtClean="0"/>
          </a:p>
        </p:txBody>
      </p:sp>
      <p:sp>
        <p:nvSpPr>
          <p:cNvPr id="8" name="ZoneTexte 7"/>
          <p:cNvSpPr txBox="1"/>
          <p:nvPr/>
        </p:nvSpPr>
        <p:spPr>
          <a:xfrm>
            <a:off x="3786807" y="3565459"/>
            <a:ext cx="32845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QRQC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PDCA en urgence sur l’effet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PDCA posé sur les causes</a:t>
            </a:r>
          </a:p>
          <a:p>
            <a:endParaRPr lang="fr-FR" dirty="0" smtClean="0"/>
          </a:p>
          <a:p>
            <a:r>
              <a:rPr lang="fr-FR" dirty="0" smtClean="0"/>
              <a:t>PDCA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fr-FR" dirty="0" smtClean="0"/>
              <a:t>+ Notion d’urgence </a:t>
            </a:r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947756" y="2181436"/>
            <a:ext cx="208759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DMAIC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 smtClean="0"/>
              <a:t>Define</a:t>
            </a: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Mesure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analyse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err="1" smtClean="0"/>
              <a:t>Improve</a:t>
            </a: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Control</a:t>
            </a:r>
          </a:p>
          <a:p>
            <a:endParaRPr lang="fr-FR" dirty="0" smtClean="0"/>
          </a:p>
          <a:p>
            <a:r>
              <a:rPr lang="fr-FR" dirty="0" smtClean="0"/>
              <a:t>PDCA 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dirty="0" smtClean="0"/>
              <a:t>+ indicateurs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dirty="0" smtClean="0"/>
              <a:t>+ causes racines</a:t>
            </a:r>
          </a:p>
          <a:p>
            <a:endParaRPr lang="fr-FR" dirty="0"/>
          </a:p>
        </p:txBody>
      </p:sp>
      <p:sp>
        <p:nvSpPr>
          <p:cNvPr id="10" name="ZoneTexte 9"/>
          <p:cNvSpPr txBox="1"/>
          <p:nvPr/>
        </p:nvSpPr>
        <p:spPr>
          <a:xfrm>
            <a:off x="7824157" y="1690688"/>
            <a:ext cx="4310333" cy="43581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 smtClean="0"/>
              <a:t>8D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Constituer l’équipe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Décrire le problème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Contenir le problème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Identifier les causes racines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Déterminer les actions correctives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Mettre en œuvre puis valider les actions correctives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Prévenir la récurrence</a:t>
            </a:r>
          </a:p>
          <a:p>
            <a:pPr marL="285750" indent="-285750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fr-FR" altLang="fr-FR" dirty="0" smtClean="0"/>
              <a:t>Clôturer</a:t>
            </a:r>
          </a:p>
          <a:p>
            <a:pPr>
              <a:lnSpc>
                <a:spcPct val="90000"/>
              </a:lnSpc>
            </a:pPr>
            <a:endParaRPr lang="fr-FR" altLang="fr-FR" dirty="0" smtClean="0"/>
          </a:p>
          <a:p>
            <a:pPr>
              <a:lnSpc>
                <a:spcPct val="90000"/>
              </a:lnSpc>
            </a:pPr>
            <a:r>
              <a:rPr lang="fr-FR" altLang="fr-FR" dirty="0" smtClean="0"/>
              <a:t>PDCA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fr-FR" altLang="fr-FR" dirty="0" smtClean="0"/>
              <a:t>+ groupe de travail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fr-FR" dirty="0" smtClean="0"/>
              <a:t>+ causes racines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fr-FR" dirty="0" smtClean="0"/>
              <a:t>+ Notion d’urgence 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r>
              <a:rPr lang="fr-FR" dirty="0"/>
              <a:t>+ indicateurs</a:t>
            </a:r>
          </a:p>
          <a:p>
            <a:pPr marL="285750" indent="-285750">
              <a:lnSpc>
                <a:spcPct val="90000"/>
              </a:lnSpc>
              <a:buFont typeface="Wingdings" panose="05000000000000000000" pitchFamily="2" charset="2"/>
              <a:buChar char="ü"/>
            </a:pPr>
            <a:endParaRPr lang="fr-FR" dirty="0" smtClean="0"/>
          </a:p>
        </p:txBody>
      </p:sp>
      <p:sp>
        <p:nvSpPr>
          <p:cNvPr id="11" name="ZoneTexte 10"/>
          <p:cNvSpPr txBox="1"/>
          <p:nvPr/>
        </p:nvSpPr>
        <p:spPr>
          <a:xfrm>
            <a:off x="2320506" y="5911656"/>
            <a:ext cx="5883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 smtClean="0">
                <a:solidFill>
                  <a:srgbClr val="FF0000"/>
                </a:solidFill>
              </a:rPr>
              <a:t>A3 / fiche action</a:t>
            </a:r>
          </a:p>
          <a:p>
            <a:pPr algn="ctr"/>
            <a:r>
              <a:rPr lang="fr-FR" b="1" dirty="0" smtClean="0"/>
              <a:t>Forme graphique </a:t>
            </a:r>
            <a:r>
              <a:rPr lang="fr-FR" dirty="0" smtClean="0"/>
              <a:t>d’une méthode de résolution de problème</a:t>
            </a:r>
          </a:p>
          <a:p>
            <a:pPr algn="ctr"/>
            <a:r>
              <a:rPr lang="fr-FR" i="1" dirty="0" smtClean="0">
                <a:solidFill>
                  <a:srgbClr val="FF0000"/>
                </a:solidFill>
              </a:rPr>
              <a:t>On y met ce dont on a besoin</a:t>
            </a:r>
            <a:endParaRPr lang="fr-FR" i="1" dirty="0">
              <a:solidFill>
                <a:srgbClr val="FF0000"/>
              </a:solidFill>
            </a:endParaRPr>
          </a:p>
        </p:txBody>
      </p:sp>
      <p:cxnSp>
        <p:nvCxnSpPr>
          <p:cNvPr id="13" name="Connecteur droit avec flèche 12"/>
          <p:cNvCxnSpPr/>
          <p:nvPr/>
        </p:nvCxnSpPr>
        <p:spPr>
          <a:xfrm>
            <a:off x="2761150" y="5027603"/>
            <a:ext cx="2105586" cy="884053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/>
          <p:cNvCxnSpPr>
            <a:endCxn id="11" idx="0"/>
          </p:cNvCxnSpPr>
          <p:nvPr/>
        </p:nvCxnSpPr>
        <p:spPr>
          <a:xfrm flipH="1">
            <a:off x="5262114" y="5094836"/>
            <a:ext cx="2188906" cy="816820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avec flèche 14"/>
          <p:cNvCxnSpPr/>
          <p:nvPr/>
        </p:nvCxnSpPr>
        <p:spPr>
          <a:xfrm>
            <a:off x="5197703" y="2831676"/>
            <a:ext cx="0" cy="548571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 flipH="1">
            <a:off x="3036547" y="1920321"/>
            <a:ext cx="1476554" cy="792313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avec flèche 16"/>
          <p:cNvCxnSpPr/>
          <p:nvPr/>
        </p:nvCxnSpPr>
        <p:spPr>
          <a:xfrm>
            <a:off x="5935861" y="1912863"/>
            <a:ext cx="1552755" cy="720331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avec flèche 21"/>
          <p:cNvCxnSpPr/>
          <p:nvPr/>
        </p:nvCxnSpPr>
        <p:spPr>
          <a:xfrm>
            <a:off x="5101086" y="5442868"/>
            <a:ext cx="0" cy="548571"/>
          </a:xfrm>
          <a:prstGeom prst="straightConnector1">
            <a:avLst/>
          </a:prstGeom>
          <a:ln w="698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à coins arrondis 3"/>
          <p:cNvSpPr/>
          <p:nvPr/>
        </p:nvSpPr>
        <p:spPr>
          <a:xfrm>
            <a:off x="4523691" y="1160821"/>
            <a:ext cx="1400355" cy="166069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à coins arrondis 4"/>
          <p:cNvSpPr/>
          <p:nvPr/>
        </p:nvSpPr>
        <p:spPr>
          <a:xfrm>
            <a:off x="792480" y="2101653"/>
            <a:ext cx="2242868" cy="294210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à coins arrondis 17"/>
          <p:cNvSpPr/>
          <p:nvPr/>
        </p:nvSpPr>
        <p:spPr>
          <a:xfrm>
            <a:off x="7498408" y="1430585"/>
            <a:ext cx="4569945" cy="4560854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à coins arrondis 19"/>
          <p:cNvSpPr/>
          <p:nvPr/>
        </p:nvSpPr>
        <p:spPr>
          <a:xfrm>
            <a:off x="3545458" y="3398870"/>
            <a:ext cx="3343021" cy="192091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xmlns="" val="1048047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4" grpId="0" animBg="1"/>
      <p:bldP spid="5" grpId="0" animBg="1"/>
      <p:bldP spid="18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408133" y="343255"/>
            <a:ext cx="111216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 smtClean="0"/>
              <a:t>Sommaire:</a:t>
            </a:r>
          </a:p>
          <a:p>
            <a:endParaRPr lang="fr-FR" sz="4800" u="sng" dirty="0" smtClean="0"/>
          </a:p>
          <a:p>
            <a:r>
              <a:rPr lang="fr-FR" sz="4800" dirty="0" smtClean="0"/>
              <a:t>1/définition et notions primordiales</a:t>
            </a:r>
          </a:p>
          <a:p>
            <a:r>
              <a:rPr lang="fr-FR" sz="4800" dirty="0" smtClean="0"/>
              <a:t> </a:t>
            </a:r>
          </a:p>
          <a:p>
            <a:r>
              <a:rPr lang="fr-FR" sz="4800" dirty="0" smtClean="0">
                <a:solidFill>
                  <a:srgbClr val="92D050"/>
                </a:solidFill>
              </a:rPr>
              <a:t>2/ la fiche action industrielle typique et ses outils</a:t>
            </a:r>
          </a:p>
          <a:p>
            <a:endParaRPr lang="fr-FR" sz="4800" dirty="0"/>
          </a:p>
          <a:p>
            <a:r>
              <a:rPr lang="fr-FR" sz="4800" dirty="0" smtClean="0"/>
              <a:t>3/ exercices</a:t>
            </a:r>
            <a:endParaRPr lang="fr-FR" sz="4800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9714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/>
          <p:cNvSpPr txBox="1"/>
          <p:nvPr/>
        </p:nvSpPr>
        <p:spPr>
          <a:xfrm>
            <a:off x="8096596" y="1514650"/>
            <a:ext cx="3724101" cy="2890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b="1" u="sng" dirty="0" smtClean="0"/>
              <a:t>8D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 smtClean="0"/>
              <a:t>Constituer </a:t>
            </a:r>
            <a:r>
              <a:rPr lang="fr-FR" altLang="fr-FR" dirty="0"/>
              <a:t>l’équipe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Décrire le problème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Contenir le problème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Identifier les causes racines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Déterminer les actions correctives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Mettre en œuvre puis valider les actions correctives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Prévenir la récurrence</a:t>
            </a:r>
          </a:p>
          <a:p>
            <a:pPr marL="342900" indent="-342900">
              <a:lnSpc>
                <a:spcPct val="90000"/>
              </a:lnSpc>
              <a:buFont typeface="+mj-lt"/>
              <a:buAutoNum type="arabicPeriod"/>
            </a:pPr>
            <a:r>
              <a:rPr lang="fr-FR" altLang="fr-FR" dirty="0"/>
              <a:t>Clôturer</a:t>
            </a:r>
          </a:p>
          <a:p>
            <a:endParaRPr lang="fr-FR" dirty="0"/>
          </a:p>
        </p:txBody>
      </p:sp>
      <p:grpSp>
        <p:nvGrpSpPr>
          <p:cNvPr id="10" name="Groupe 9"/>
          <p:cNvGrpSpPr/>
          <p:nvPr/>
        </p:nvGrpSpPr>
        <p:grpSpPr>
          <a:xfrm>
            <a:off x="-9025" y="16953"/>
            <a:ext cx="7806363" cy="6126152"/>
            <a:chOff x="-9024" y="16953"/>
            <a:chExt cx="6795626" cy="5461132"/>
          </a:xfrm>
        </p:grpSpPr>
        <p:pic>
          <p:nvPicPr>
            <p:cNvPr id="8" name="Image 7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sp>
        <p:nvSpPr>
          <p:cNvPr id="20" name="ZoneTexte 19"/>
          <p:cNvSpPr txBox="1"/>
          <p:nvPr/>
        </p:nvSpPr>
        <p:spPr>
          <a:xfrm>
            <a:off x="7996844" y="357447"/>
            <a:ext cx="392360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dirty="0" smtClean="0"/>
              <a:t>Fiche action 8D</a:t>
            </a:r>
            <a:endParaRPr lang="fr-FR" sz="4400" dirty="0"/>
          </a:p>
        </p:txBody>
      </p:sp>
      <p:grpSp>
        <p:nvGrpSpPr>
          <p:cNvPr id="7" name="Groupe 6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1" name="ZoneTexte 10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570871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sp>
        <p:nvSpPr>
          <p:cNvPr id="9" name="ZoneTexte 8"/>
          <p:cNvSpPr txBox="1"/>
          <p:nvPr/>
        </p:nvSpPr>
        <p:spPr>
          <a:xfrm>
            <a:off x="7879528" y="58796"/>
            <a:ext cx="2294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1. </a:t>
            </a:r>
            <a:r>
              <a:rPr lang="fr-FR" altLang="fr-FR" dirty="0"/>
              <a:t>Constituer </a:t>
            </a:r>
            <a:r>
              <a:rPr lang="fr-FR" altLang="fr-FR" dirty="0" smtClean="0"/>
              <a:t>l’équipe</a:t>
            </a:r>
            <a:endParaRPr lang="fr-FR" altLang="fr-FR" dirty="0"/>
          </a:p>
        </p:txBody>
      </p:sp>
      <p:cxnSp>
        <p:nvCxnSpPr>
          <p:cNvPr id="11" name="Connecteur droit avec flèche 10"/>
          <p:cNvCxnSpPr/>
          <p:nvPr/>
        </p:nvCxnSpPr>
        <p:spPr>
          <a:xfrm flipH="1">
            <a:off x="2011680" y="749030"/>
            <a:ext cx="4588627" cy="43969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avec flèche 9"/>
          <p:cNvCxnSpPr/>
          <p:nvPr/>
        </p:nvCxnSpPr>
        <p:spPr>
          <a:xfrm flipH="1" flipV="1">
            <a:off x="2435629" y="207818"/>
            <a:ext cx="881150" cy="86664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7118647" y="495656"/>
            <a:ext cx="446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Liste des intervenants de </a:t>
            </a:r>
            <a:r>
              <a:rPr lang="fr-FR" b="1" dirty="0" smtClean="0"/>
              <a:t>l’équipe avec leurs fonctions</a:t>
            </a:r>
            <a:r>
              <a:rPr lang="fr-FR" dirty="0" smtClean="0"/>
              <a:t> dans celle-ci</a:t>
            </a:r>
            <a:endParaRPr lang="fr-FR" dirty="0"/>
          </a:p>
        </p:txBody>
      </p:sp>
      <p:grpSp>
        <p:nvGrpSpPr>
          <p:cNvPr id="12" name="Groupe 11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3" name="ZoneTexte 12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4" name="Connecteur droit 13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46845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/>
          <p:cNvSpPr txBox="1"/>
          <p:nvPr/>
        </p:nvSpPr>
        <p:spPr>
          <a:xfrm>
            <a:off x="8727275" y="116319"/>
            <a:ext cx="2826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2. </a:t>
            </a:r>
            <a:r>
              <a:rPr lang="fr-FR" altLang="fr-FR" dirty="0"/>
              <a:t>Décrire le </a:t>
            </a:r>
            <a:r>
              <a:rPr lang="fr-FR" altLang="fr-FR" dirty="0" smtClean="0"/>
              <a:t>problème</a:t>
            </a:r>
            <a:endParaRPr lang="fr-FR" altLang="fr-FR" dirty="0"/>
          </a:p>
        </p:txBody>
      </p:sp>
      <p:sp>
        <p:nvSpPr>
          <p:cNvPr id="6" name="ZoneTexte 5"/>
          <p:cNvSpPr txBox="1"/>
          <p:nvPr/>
        </p:nvSpPr>
        <p:spPr>
          <a:xfrm>
            <a:off x="6693239" y="315132"/>
            <a:ext cx="21613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QQOQCCP</a:t>
            </a:r>
            <a:endParaRPr lang="fr-FR" sz="3600" dirty="0"/>
          </a:p>
        </p:txBody>
      </p:sp>
      <p:grpSp>
        <p:nvGrpSpPr>
          <p:cNvPr id="8" name="Groupe 7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11" name="Connecteur droit avec flèche 10"/>
          <p:cNvCxnSpPr>
            <a:stCxn id="6" idx="1"/>
          </p:cNvCxnSpPr>
          <p:nvPr/>
        </p:nvCxnSpPr>
        <p:spPr>
          <a:xfrm flipH="1">
            <a:off x="2119746" y="638298"/>
            <a:ext cx="4573493" cy="143157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8039156" y="4212652"/>
            <a:ext cx="37975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u="sng" dirty="0" smtClean="0"/>
              <a:t>Nota Bene: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smtClean="0"/>
              <a:t>Par « </a:t>
            </a:r>
            <a:r>
              <a:rPr lang="fr-FR" sz="1400" b="1" dirty="0" smtClean="0"/>
              <a:t>pourquoi?</a:t>
            </a:r>
            <a:r>
              <a:rPr lang="fr-FR" sz="1400" dirty="0" smtClean="0"/>
              <a:t> », il faut entendre «</a:t>
            </a:r>
            <a:r>
              <a:rPr lang="fr-FR" sz="1400" b="1" dirty="0" smtClean="0"/>
              <a:t> en quoi? </a:t>
            </a:r>
            <a:r>
              <a:rPr lang="fr-FR" sz="1400" dirty="0" smtClean="0"/>
              <a:t>» (conséquence du problème)</a:t>
            </a:r>
          </a:p>
          <a:p>
            <a:pPr marL="285750" indent="-285750"/>
            <a:r>
              <a:rPr lang="fr-FR" sz="1400" dirty="0" smtClean="0"/>
              <a:t>	ou « Pourquoi cherches tu à résoudre ce problème? 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400" dirty="0" smtClean="0"/>
              <a:t>Obtenir des </a:t>
            </a:r>
            <a:r>
              <a:rPr lang="fr-FR" sz="1400" b="1" dirty="0" smtClean="0"/>
              <a:t>réponses précises et factuelles</a:t>
            </a:r>
            <a:endParaRPr lang="fr-FR" sz="1400" b="1" dirty="0"/>
          </a:p>
        </p:txBody>
      </p:sp>
      <p:grpSp>
        <p:nvGrpSpPr>
          <p:cNvPr id="15" name="Group 14"/>
          <p:cNvGrpSpPr>
            <a:grpSpLocks/>
          </p:cNvGrpSpPr>
          <p:nvPr/>
        </p:nvGrpSpPr>
        <p:grpSpPr bwMode="auto">
          <a:xfrm>
            <a:off x="6717559" y="4951904"/>
            <a:ext cx="3626370" cy="1592650"/>
            <a:chOff x="3409" y="1817"/>
            <a:chExt cx="3018" cy="1476"/>
          </a:xfrm>
        </p:grpSpPr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3742" y="2523"/>
              <a:ext cx="2685" cy="770"/>
            </a:xfrm>
            <a:prstGeom prst="rect">
              <a:avLst/>
            </a:prstGeom>
            <a:solidFill>
              <a:srgbClr val="FFFFEF"/>
            </a:solidFill>
            <a:ln w="6350" algn="ctr">
              <a:solidFill>
                <a:srgbClr val="969696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 anchor="ctr"/>
            <a:lstStyle>
              <a:lvl1pPr algn="l">
                <a:spcAft>
                  <a:spcPct val="20000"/>
                </a:spcAft>
                <a:buClr>
                  <a:schemeClr val="tx2"/>
                </a:buClr>
                <a:buFont typeface="Arial" panose="020B0604020202020204" pitchFamily="34" charset="0"/>
                <a:buBlip>
                  <a:blip r:embed="rId4"/>
                </a:buBlip>
                <a:defRPr sz="2000"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indent="263525" algn="l">
                <a:spcAft>
                  <a:spcPct val="10000"/>
                </a:spcAft>
                <a:buClr>
                  <a:schemeClr val="accent1"/>
                </a:buClr>
                <a:buSzPct val="95000"/>
                <a:buFont typeface="Wingdings" panose="05000000000000000000" pitchFamily="2" charset="2"/>
                <a:buChar char="u"/>
                <a:defRPr sz="1600"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algn="l">
                <a:buClr>
                  <a:schemeClr val="tx2"/>
                </a:buClr>
                <a:buFont typeface="Symbol" panose="05050102010706020507" pitchFamily="18" charset="2"/>
                <a:buChar char="·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algn="l">
                <a:buClr>
                  <a:schemeClr val="tx1"/>
                </a:buClr>
                <a:buFont typeface="Arial" panose="020B0604020202020204" pitchFamily="34" charset="0"/>
                <a:buChar char="-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algn="l">
                <a:buFont typeface="Arial" panose="020B0604020202020204" pitchFamily="34" charset="0"/>
                <a:buChar char="­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­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­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­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fontAlgn="base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­"/>
                <a:defRPr sz="12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FF9933"/>
                </a:buClr>
                <a:buSzPct val="90000"/>
                <a:buFont typeface="Arial" panose="020B0604020202020204" pitchFamily="34" charset="0"/>
                <a:buNone/>
              </a:pPr>
              <a:r>
                <a:rPr lang="fr-FR" altLang="fr-FR" sz="1000" i="1" dirty="0">
                  <a:latin typeface="Bodoni MT" panose="02070603080606020203" pitchFamily="18" charset="0"/>
                  <a:cs typeface="Times New Roman" panose="02020603050405020304" pitchFamily="18" charset="0"/>
                </a:rPr>
                <a:t>« La formulation d’un problème est souvent plus importante que la solution elle-même…  »</a:t>
              </a:r>
            </a:p>
          </p:txBody>
        </p:sp>
        <p:pic>
          <p:nvPicPr>
            <p:cNvPr id="17" name="Picture 12" descr="einstein">
              <a:hlinkClick r:id="rId5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9" y="1817"/>
              <a:ext cx="832" cy="9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458989" y="878944"/>
            <a:ext cx="5259185" cy="3394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ZoneTexte 13"/>
          <p:cNvSpPr txBox="1"/>
          <p:nvPr/>
        </p:nvSpPr>
        <p:spPr>
          <a:xfrm>
            <a:off x="10353675" y="3314700"/>
            <a:ext cx="1209675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 smtClean="0"/>
              <a:t>(</a:t>
            </a:r>
            <a:r>
              <a:rPr lang="fr-FR" sz="1100" b="1" dirty="0" smtClean="0"/>
              <a:t>Pareto ou ABC </a:t>
            </a:r>
            <a:r>
              <a:rPr lang="fr-FR" sz="1100" dirty="0" smtClean="0"/>
              <a:t>si nécessité de trier une population par les stat. :</a:t>
            </a:r>
          </a:p>
          <a:p>
            <a:r>
              <a:rPr lang="fr-FR" sz="1100" dirty="0" smtClean="0"/>
              <a:t> </a:t>
            </a:r>
            <a:r>
              <a:rPr lang="fr-FR" sz="1100" dirty="0" err="1" smtClean="0"/>
              <a:t>cf</a:t>
            </a:r>
            <a:r>
              <a:rPr lang="fr-FR" sz="1100" dirty="0" smtClean="0"/>
              <a:t> + loin)</a:t>
            </a:r>
            <a:endParaRPr lang="fr-FR" sz="1100" dirty="0"/>
          </a:p>
        </p:txBody>
      </p:sp>
      <p:grpSp>
        <p:nvGrpSpPr>
          <p:cNvPr id="18" name="Groupe 17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9" name="ZoneTexte 18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8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20" name="Connecteur droit 19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535571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589520" y="257695"/>
            <a:ext cx="3823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3. </a:t>
            </a:r>
            <a:r>
              <a:rPr lang="fr-FR" altLang="fr-FR" dirty="0"/>
              <a:t>Contenir le </a:t>
            </a:r>
            <a:r>
              <a:rPr lang="fr-FR" altLang="fr-FR" dirty="0" smtClean="0"/>
              <a:t>problème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sp>
        <p:nvSpPr>
          <p:cNvPr id="6" name="ZoneTexte 5"/>
          <p:cNvSpPr txBox="1"/>
          <p:nvPr/>
        </p:nvSpPr>
        <p:spPr>
          <a:xfrm>
            <a:off x="7024255" y="1172095"/>
            <a:ext cx="472162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PDCA rapide basé sur la </a:t>
            </a:r>
            <a:r>
              <a:rPr lang="fr-FR" b="1" dirty="0" smtClean="0"/>
              <a:t>résolution de l’effet </a:t>
            </a:r>
            <a:r>
              <a:rPr lang="fr-FR" dirty="0" smtClean="0"/>
              <a:t>et non de la cause du problème!</a:t>
            </a:r>
          </a:p>
          <a:p>
            <a:endParaRPr lang="fr-FR" dirty="0" smtClean="0"/>
          </a:p>
        </p:txBody>
      </p:sp>
      <p:cxnSp>
        <p:nvCxnSpPr>
          <p:cNvPr id="7" name="Connecteur droit avec flèche 6"/>
          <p:cNvCxnSpPr/>
          <p:nvPr/>
        </p:nvCxnSpPr>
        <p:spPr>
          <a:xfrm flipH="1">
            <a:off x="1770611" y="1495260"/>
            <a:ext cx="5112684" cy="340093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e 7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9" name="ZoneTexte 8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0" name="Connecteur droit 9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816892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013469" y="157942"/>
            <a:ext cx="315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4. </a:t>
            </a:r>
            <a:r>
              <a:rPr lang="fr-FR" altLang="fr-FR" dirty="0"/>
              <a:t>Identifier les causes </a:t>
            </a:r>
            <a:r>
              <a:rPr lang="fr-FR" altLang="fr-FR" dirty="0" smtClean="0"/>
              <a:t>racines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6" name="Connecteur droit avec flèche 5"/>
          <p:cNvCxnSpPr/>
          <p:nvPr/>
        </p:nvCxnSpPr>
        <p:spPr>
          <a:xfrm flipH="1" flipV="1">
            <a:off x="4405745" y="390698"/>
            <a:ext cx="2527070" cy="5634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ZoneTexte 9"/>
          <p:cNvSpPr txBox="1"/>
          <p:nvPr/>
        </p:nvSpPr>
        <p:spPr>
          <a:xfrm>
            <a:off x="7082444" y="640080"/>
            <a:ext cx="3391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5 pourquoi</a:t>
            </a:r>
            <a:endParaRPr lang="fr-FR" sz="36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24056" y="1219556"/>
            <a:ext cx="5294132" cy="42153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9" name="ZoneTexte 68"/>
          <p:cNvSpPr txBox="1"/>
          <p:nvPr/>
        </p:nvSpPr>
        <p:spPr>
          <a:xfrm>
            <a:off x="6305986" y="4400165"/>
            <a:ext cx="34073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 smtClean="0"/>
              <a:t>Valider</a:t>
            </a:r>
            <a:r>
              <a:rPr lang="fr-FR" dirty="0" smtClean="0"/>
              <a:t> ou infirmer les causes </a:t>
            </a:r>
            <a:r>
              <a:rPr lang="fr-FR" b="1" dirty="0" smtClean="0"/>
              <a:t>sur le terrain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fr-FR" b="1" dirty="0" smtClean="0">
                <a:ea typeface="ＭＳ Ｐゴシック" panose="020B0600070205080204" pitchFamily="34" charset="-128"/>
              </a:rPr>
              <a:t>Itérer autant que nécessaire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altLang="fr-FR" dirty="0">
                <a:ea typeface="ＭＳ Ｐゴシック" panose="020B0600070205080204" pitchFamily="34" charset="-128"/>
              </a:rPr>
              <a:t>S’assurer que la </a:t>
            </a:r>
            <a:r>
              <a:rPr lang="fr-FR" altLang="fr-FR" b="1" dirty="0">
                <a:ea typeface="ＭＳ Ｐゴシック" panose="020B0600070205080204" pitchFamily="34" charset="-128"/>
              </a:rPr>
              <a:t>chaine des causes est cohérente</a:t>
            </a:r>
            <a:endParaRPr lang="fr-FR" altLang="fr-FR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solidFill>
                  <a:srgbClr val="FF0000"/>
                </a:solidFill>
              </a:rPr>
              <a:t>1 cause racine =&gt; 1 action corrective</a:t>
            </a:r>
          </a:p>
          <a:p>
            <a:endParaRPr lang="fr-FR" altLang="fr-FR" dirty="0">
              <a:ea typeface="ＭＳ Ｐゴシック" panose="020B0600070205080204" pitchFamily="34" charset="-128"/>
            </a:endParaRPr>
          </a:p>
        </p:txBody>
      </p:sp>
      <p:grpSp>
        <p:nvGrpSpPr>
          <p:cNvPr id="11" name="Groupe 10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2" name="ZoneTexte 11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5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3" name="Connecteur droit 12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306770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6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013469" y="157942"/>
            <a:ext cx="315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4. </a:t>
            </a:r>
            <a:r>
              <a:rPr lang="fr-FR" altLang="fr-FR" dirty="0"/>
              <a:t>Identifier les causes </a:t>
            </a:r>
            <a:r>
              <a:rPr lang="fr-FR" altLang="fr-FR" dirty="0" smtClean="0"/>
              <a:t>racines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6" name="Connecteur droit avec flèche 5"/>
          <p:cNvCxnSpPr/>
          <p:nvPr/>
        </p:nvCxnSpPr>
        <p:spPr>
          <a:xfrm flipH="1" flipV="1">
            <a:off x="4405745" y="390698"/>
            <a:ext cx="2527070" cy="5634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Picture 133" descr="dglxasset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 flipH="1">
            <a:off x="11172305" y="3891400"/>
            <a:ext cx="792162" cy="395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ZoneTexte 47"/>
          <p:cNvSpPr txBox="1"/>
          <p:nvPr/>
        </p:nvSpPr>
        <p:spPr>
          <a:xfrm>
            <a:off x="6932816" y="706582"/>
            <a:ext cx="525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Diagramme Ishikawa (5M)</a:t>
            </a:r>
            <a:endParaRPr lang="fr-FR" sz="3600" dirty="0"/>
          </a:p>
        </p:txBody>
      </p:sp>
      <p:pic>
        <p:nvPicPr>
          <p:cNvPr id="49" name="Picture 15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199073" y="1604885"/>
            <a:ext cx="5923104" cy="2863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e 9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1" name="ZoneTexte 10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6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2" name="Connecteur droit 11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9329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8013469" y="157942"/>
            <a:ext cx="3158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4. </a:t>
            </a:r>
            <a:r>
              <a:rPr lang="fr-FR" altLang="fr-FR" dirty="0"/>
              <a:t>Identifier les causes </a:t>
            </a:r>
            <a:r>
              <a:rPr lang="fr-FR" altLang="fr-FR" dirty="0" smtClean="0"/>
              <a:t>racines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6" name="Connecteur droit avec flèche 5"/>
          <p:cNvCxnSpPr/>
          <p:nvPr/>
        </p:nvCxnSpPr>
        <p:spPr>
          <a:xfrm flipH="1" flipV="1">
            <a:off x="4405745" y="390698"/>
            <a:ext cx="2527070" cy="56349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ZoneTexte 47"/>
          <p:cNvSpPr txBox="1"/>
          <p:nvPr/>
        </p:nvSpPr>
        <p:spPr>
          <a:xfrm>
            <a:off x="6932816" y="706582"/>
            <a:ext cx="5253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Diagramme Ishikawa (5M)</a:t>
            </a:r>
            <a:endParaRPr lang="fr-FR" sz="3600" dirty="0"/>
          </a:p>
        </p:txBody>
      </p:sp>
      <p:sp>
        <p:nvSpPr>
          <p:cNvPr id="50" name="ZoneTexte 49"/>
          <p:cNvSpPr txBox="1"/>
          <p:nvPr/>
        </p:nvSpPr>
        <p:spPr>
          <a:xfrm>
            <a:off x="2941608" y="5657671"/>
            <a:ext cx="66250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fr-FR" dirty="0" smtClean="0"/>
              <a:t>Le 8M est complémentaire et imbriqué dans le 5P et inversement!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fr-FR" dirty="0" smtClean="0"/>
              <a:t>Y a-t-il assez de branches (5P) dans le 8M?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fr-FR" dirty="0" smtClean="0"/>
              <a:t>Avez-vous balayer les grand thèmes du 8M dans le 5P?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/>
          </a:p>
        </p:txBody>
      </p:sp>
      <p:sp>
        <p:nvSpPr>
          <p:cNvPr id="25" name="Flèche vers le bas 24"/>
          <p:cNvSpPr/>
          <p:nvPr/>
        </p:nvSpPr>
        <p:spPr>
          <a:xfrm>
            <a:off x="9010185" y="1352913"/>
            <a:ext cx="334537" cy="578452"/>
          </a:xfrm>
          <a:prstGeom prst="down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/>
          <p:cNvSpPr txBox="1"/>
          <p:nvPr/>
        </p:nvSpPr>
        <p:spPr>
          <a:xfrm>
            <a:off x="7257556" y="1977966"/>
            <a:ext cx="46125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8M ou diagramme d’Ishikawa étendu:</a:t>
            </a:r>
          </a:p>
          <a:p>
            <a:endParaRPr lang="fr-FR" dirty="0" smtClean="0"/>
          </a:p>
          <a:p>
            <a:r>
              <a:rPr lang="fr-FR" dirty="0" smtClean="0"/>
              <a:t>8 domaines de causes racines (voire 9!) 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Matière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productions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Main d’œuvre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Méthode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Milieu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contrôle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financiers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(Maintenance)</a:t>
            </a:r>
          </a:p>
          <a:p>
            <a:endParaRPr lang="fr-FR" dirty="0"/>
          </a:p>
        </p:txBody>
      </p:sp>
      <p:grpSp>
        <p:nvGrpSpPr>
          <p:cNvPr id="11" name="Groupe 10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2" name="ZoneTexte 11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3" name="Connecteur droit 12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9329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  <p:bldP spid="25" grpId="0" animBg="1"/>
      <p:bldP spid="2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ZoneTexte 25"/>
          <p:cNvSpPr txBox="1"/>
          <p:nvPr/>
        </p:nvSpPr>
        <p:spPr>
          <a:xfrm>
            <a:off x="8067181" y="1040606"/>
            <a:ext cx="32294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Matière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productions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Main d’œuvre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Méthode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Milieu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contrôle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financiers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(Maintenance)</a:t>
            </a:r>
          </a:p>
          <a:p>
            <a:endParaRPr lang="fr-FR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9506" y="836224"/>
            <a:ext cx="6182294" cy="492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11"/>
          <p:cNvSpPr/>
          <p:nvPr/>
        </p:nvSpPr>
        <p:spPr>
          <a:xfrm>
            <a:off x="2506753" y="320159"/>
            <a:ext cx="6989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/>
            <a:r>
              <a:rPr lang="fr-FR" dirty="0" smtClean="0"/>
              <a:t>Avez-vous balayer les grand thèmes du 8M dans le 5P?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91100" y="3009901"/>
            <a:ext cx="1628775" cy="83820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/>
          <p:cNvSpPr/>
          <p:nvPr/>
        </p:nvSpPr>
        <p:spPr>
          <a:xfrm>
            <a:off x="8134350" y="990600"/>
            <a:ext cx="2867025" cy="476250"/>
          </a:xfrm>
          <a:prstGeom prst="rect">
            <a:avLst/>
          </a:prstGeom>
          <a:noFill/>
          <a:ln w="38100"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/>
          <p:cNvSpPr/>
          <p:nvPr/>
        </p:nvSpPr>
        <p:spPr>
          <a:xfrm>
            <a:off x="8153400" y="1533525"/>
            <a:ext cx="2867025" cy="476250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/>
          <p:cNvSpPr/>
          <p:nvPr/>
        </p:nvSpPr>
        <p:spPr>
          <a:xfrm>
            <a:off x="5895975" y="2095499"/>
            <a:ext cx="923925" cy="84772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/>
          <p:cNvSpPr/>
          <p:nvPr/>
        </p:nvSpPr>
        <p:spPr>
          <a:xfrm>
            <a:off x="8143875" y="2066925"/>
            <a:ext cx="2867025" cy="47625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Rectangle 26"/>
          <p:cNvSpPr/>
          <p:nvPr/>
        </p:nvSpPr>
        <p:spPr>
          <a:xfrm>
            <a:off x="5972176" y="2600325"/>
            <a:ext cx="800100" cy="3143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/>
          <p:cNvSpPr/>
          <p:nvPr/>
        </p:nvSpPr>
        <p:spPr>
          <a:xfrm>
            <a:off x="4257675" y="3028949"/>
            <a:ext cx="714375" cy="809625"/>
          </a:xfrm>
          <a:prstGeom prst="rect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Rectangle 28"/>
          <p:cNvSpPr/>
          <p:nvPr/>
        </p:nvSpPr>
        <p:spPr>
          <a:xfrm>
            <a:off x="8162925" y="2600325"/>
            <a:ext cx="2867025" cy="4762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2409826" y="2133600"/>
            <a:ext cx="2247900" cy="6667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8153400" y="5353050"/>
            <a:ext cx="2867025" cy="47625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8134350" y="3171825"/>
            <a:ext cx="2867025" cy="476250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Rectangle 32"/>
          <p:cNvSpPr/>
          <p:nvPr/>
        </p:nvSpPr>
        <p:spPr>
          <a:xfrm>
            <a:off x="1009651" y="2114549"/>
            <a:ext cx="1409700" cy="71437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34" name="Groupe 3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35" name="ZoneTexte 3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3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36" name="Connecteur droit 3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293290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15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988898" y="1376284"/>
            <a:ext cx="9831502" cy="475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3292712" y="491609"/>
            <a:ext cx="46131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/>
            <a:r>
              <a:rPr lang="fr-FR" dirty="0" smtClean="0"/>
              <a:t>Y a-t-il assez de branches (5P) dans le 8M?</a:t>
            </a:r>
          </a:p>
        </p:txBody>
      </p:sp>
      <p:sp>
        <p:nvSpPr>
          <p:cNvPr id="4" name="Rectangle 3"/>
          <p:cNvSpPr/>
          <p:nvPr/>
        </p:nvSpPr>
        <p:spPr>
          <a:xfrm>
            <a:off x="3600450" y="2533651"/>
            <a:ext cx="2152649" cy="1066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ZoneTexte 4"/>
          <p:cNvSpPr txBox="1"/>
          <p:nvPr/>
        </p:nvSpPr>
        <p:spPr>
          <a:xfrm>
            <a:off x="5934075" y="2962275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0000"/>
                </a:solidFill>
              </a:rPr>
              <a:t>2P</a:t>
            </a:r>
            <a:endParaRPr lang="fr-FR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05725" y="2047876"/>
            <a:ext cx="2771775" cy="1247774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10534650" y="2486025"/>
            <a:ext cx="10572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00B050"/>
                </a:solidFill>
              </a:rPr>
              <a:t>3P</a:t>
            </a:r>
            <a:endParaRPr lang="fr-FR" b="1" dirty="0">
              <a:solidFill>
                <a:srgbClr val="00B050"/>
              </a:solidFill>
            </a:endParaRPr>
          </a:p>
        </p:txBody>
      </p:sp>
      <p:grpSp>
        <p:nvGrpSpPr>
          <p:cNvPr id="8" name="Groupe 7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9" name="ZoneTexte 8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3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0" name="Connecteur droit 9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Connecteur droit 11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 animBg="1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349840" y="132550"/>
            <a:ext cx="376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  <a:r>
              <a:rPr lang="fr-FR" dirty="0" smtClean="0"/>
              <a:t>. </a:t>
            </a:r>
            <a:r>
              <a:rPr lang="fr-FR" altLang="fr-FR" dirty="0"/>
              <a:t>Déterminer les actions </a:t>
            </a:r>
            <a:r>
              <a:rPr lang="fr-FR" altLang="fr-FR" dirty="0" smtClean="0"/>
              <a:t>correctives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6" name="Connecteur droit avec flèche 5"/>
          <p:cNvCxnSpPr/>
          <p:nvPr/>
        </p:nvCxnSpPr>
        <p:spPr>
          <a:xfrm rot="5400000">
            <a:off x="4679369" y="1087965"/>
            <a:ext cx="2390296" cy="1662166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6732249" y="442307"/>
            <a:ext cx="50120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Pareto / 20-80 / ABC(D)</a:t>
            </a:r>
            <a:endParaRPr lang="fr-FR" sz="3600" dirty="0"/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6296024" y="1073150"/>
            <a:ext cx="5895975" cy="4616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1" hangingPunct="1">
              <a:buAutoNum type="arabicPeriod"/>
            </a:pPr>
            <a:r>
              <a:rPr lang="fr-FR" altLang="fr-FR" dirty="0" err="1" smtClean="0"/>
              <a:t>Dét</a:t>
            </a:r>
            <a:r>
              <a:rPr lang="fr-FR" altLang="fr-FR" dirty="0"/>
              <a:t>. d’un </a:t>
            </a:r>
            <a:r>
              <a:rPr lang="fr-FR" altLang="fr-FR" dirty="0" smtClean="0"/>
              <a:t>(SEUL) critère </a:t>
            </a:r>
            <a:r>
              <a:rPr lang="fr-FR" altLang="fr-FR" dirty="0"/>
              <a:t>d’analyse</a:t>
            </a:r>
          </a:p>
          <a:p>
            <a:pPr marL="342900" indent="-342900" eaLnBrk="1" hangingPunct="1">
              <a:buAutoNum type="arabicPeriod"/>
            </a:pPr>
            <a:r>
              <a:rPr lang="fr-FR" altLang="fr-FR" dirty="0" smtClean="0"/>
              <a:t>Classification de la population (causes) suivant </a:t>
            </a:r>
            <a:r>
              <a:rPr lang="fr-FR" altLang="fr-FR" dirty="0"/>
              <a:t>le critère décroissant</a:t>
            </a:r>
          </a:p>
          <a:p>
            <a:pPr marL="342900" indent="-342900" eaLnBrk="1" hangingPunct="1"/>
            <a:r>
              <a:rPr lang="fr-FR" altLang="fr-FR" dirty="0"/>
              <a:t>3</a:t>
            </a:r>
            <a:r>
              <a:rPr lang="fr-FR" altLang="fr-FR" dirty="0" smtClean="0"/>
              <a:t>.   </a:t>
            </a:r>
            <a:r>
              <a:rPr lang="fr-FR" altLang="fr-FR" dirty="0"/>
              <a:t>Calcul du % cumulé du critère</a:t>
            </a:r>
          </a:p>
          <a:p>
            <a:pPr marL="342900" indent="-342900" eaLnBrk="1" hangingPunct="1"/>
            <a:r>
              <a:rPr lang="fr-FR" altLang="fr-FR" dirty="0" smtClean="0"/>
              <a:t>4</a:t>
            </a:r>
            <a:r>
              <a:rPr lang="fr-FR" altLang="fr-FR" dirty="0"/>
              <a:t>. </a:t>
            </a:r>
            <a:r>
              <a:rPr lang="fr-FR" altLang="fr-FR" dirty="0" smtClean="0"/>
              <a:t>  Tracé </a:t>
            </a:r>
            <a:r>
              <a:rPr lang="fr-FR" altLang="fr-FR" dirty="0"/>
              <a:t>de la courbe</a:t>
            </a:r>
          </a:p>
          <a:p>
            <a:pPr marL="342900" indent="-342900" eaLnBrk="1" hangingPunct="1">
              <a:spcBef>
                <a:spcPct val="50000"/>
              </a:spcBef>
            </a:pPr>
            <a:r>
              <a:rPr lang="fr-FR" altLang="fr-FR" sz="1200" dirty="0"/>
              <a:t>   </a:t>
            </a:r>
            <a:r>
              <a:rPr lang="fr-FR" altLang="fr-FR" sz="1200" dirty="0" smtClean="0"/>
              <a:t>		 </a:t>
            </a:r>
            <a:r>
              <a:rPr lang="fr-FR" altLang="fr-FR" sz="1200" dirty="0"/>
              <a:t>B      % cumulés</a:t>
            </a:r>
          </a:p>
          <a:p>
            <a:pPr marL="800100" lvl="1" indent="-342900">
              <a:spcBef>
                <a:spcPct val="50000"/>
              </a:spcBef>
            </a:pPr>
            <a:r>
              <a:rPr lang="fr-FR" altLang="fr-FR" sz="1200" dirty="0"/>
              <a:t>			</a:t>
            </a:r>
            <a:r>
              <a:rPr lang="fr-FR" altLang="fr-FR" sz="1200" dirty="0" smtClean="0"/>
              <a:t>		</a:t>
            </a:r>
            <a:r>
              <a:rPr lang="fr-FR" altLang="fr-FR" sz="1600" dirty="0" smtClean="0">
                <a:solidFill>
                  <a:srgbClr val="FF0000"/>
                </a:solidFill>
                <a:sym typeface="Wingdings"/>
              </a:rPr>
              <a:t> </a:t>
            </a:r>
            <a:r>
              <a:rPr lang="fr-FR" altLang="fr-FR" sz="1600" b="1" dirty="0" smtClean="0">
                <a:solidFill>
                  <a:srgbClr val="FF0000"/>
                </a:solidFill>
              </a:rPr>
              <a:t>graphe carré </a:t>
            </a:r>
            <a:r>
              <a:rPr lang="fr-FR" altLang="fr-FR" sz="1600" dirty="0" smtClean="0">
                <a:solidFill>
                  <a:srgbClr val="FF0000"/>
                </a:solidFill>
                <a:sym typeface="Wingdings"/>
              </a:rPr>
              <a:t></a:t>
            </a:r>
            <a:endParaRPr lang="fr-FR" altLang="fr-FR" sz="1600" b="1" dirty="0">
              <a:solidFill>
                <a:srgbClr val="FF0000"/>
              </a:solidFill>
            </a:endParaRPr>
          </a:p>
          <a:p>
            <a:pPr marL="800100" lvl="1" indent="-342900" eaLnBrk="1" hangingPunct="1">
              <a:spcBef>
                <a:spcPct val="50000"/>
              </a:spcBef>
            </a:pPr>
            <a:r>
              <a:rPr lang="fr-FR" altLang="fr-FR" sz="1200" dirty="0"/>
              <a:t>          </a:t>
            </a:r>
            <a:r>
              <a:rPr lang="fr-FR" altLang="fr-FR" sz="1200" dirty="0" smtClean="0"/>
              <a:t>		 </a:t>
            </a:r>
            <a:r>
              <a:rPr lang="fr-FR" altLang="fr-FR" sz="1200" dirty="0"/>
              <a:t>C</a:t>
            </a:r>
          </a:p>
          <a:p>
            <a:pPr marL="800100" lvl="1" indent="-342900" eaLnBrk="1" hangingPunct="1">
              <a:spcBef>
                <a:spcPct val="50000"/>
              </a:spcBef>
            </a:pPr>
            <a:endParaRPr lang="fr-FR" altLang="fr-FR" sz="1200" dirty="0" smtClean="0"/>
          </a:p>
          <a:p>
            <a:pPr marL="800100" lvl="1" indent="-342900" eaLnBrk="1" hangingPunct="1">
              <a:spcBef>
                <a:spcPct val="50000"/>
              </a:spcBef>
            </a:pPr>
            <a:endParaRPr lang="fr-FR" altLang="fr-FR" sz="1200" dirty="0"/>
          </a:p>
          <a:p>
            <a:pPr marL="800100" lvl="1" indent="-342900" eaLnBrk="1" hangingPunct="1">
              <a:spcBef>
                <a:spcPct val="50000"/>
              </a:spcBef>
            </a:pPr>
            <a:endParaRPr lang="fr-FR" altLang="fr-FR" sz="1200" dirty="0"/>
          </a:p>
          <a:p>
            <a:pPr marL="800100" lvl="1" indent="-342900" eaLnBrk="1" hangingPunct="1">
              <a:spcBef>
                <a:spcPct val="50000"/>
              </a:spcBef>
            </a:pPr>
            <a:r>
              <a:rPr lang="fr-FR" altLang="fr-FR" sz="1200" dirty="0"/>
              <a:t>			</a:t>
            </a:r>
            <a:r>
              <a:rPr lang="fr-FR" altLang="fr-FR" sz="1200" dirty="0" smtClean="0"/>
              <a:t>	</a:t>
            </a:r>
            <a:endParaRPr lang="fr-FR" altLang="fr-FR" sz="1200" dirty="0"/>
          </a:p>
          <a:p>
            <a:pPr marL="800100" lvl="1" indent="-342900" eaLnBrk="1" hangingPunct="1">
              <a:spcBef>
                <a:spcPct val="50000"/>
              </a:spcBef>
            </a:pPr>
            <a:r>
              <a:rPr lang="fr-FR" altLang="fr-FR" sz="1200" dirty="0"/>
              <a:t>			</a:t>
            </a:r>
            <a:r>
              <a:rPr lang="fr-FR" altLang="fr-FR" sz="1200" dirty="0" smtClean="0"/>
              <a:t>	       A       </a:t>
            </a:r>
            <a:r>
              <a:rPr lang="fr-FR" altLang="fr-FR" sz="1200" dirty="0"/>
              <a:t>produits à classer</a:t>
            </a:r>
          </a:p>
          <a:p>
            <a:pPr marL="342900" indent="-342900" eaLnBrk="1" hangingPunct="1"/>
            <a:r>
              <a:rPr lang="fr-FR" altLang="fr-FR" dirty="0"/>
              <a:t>5. </a:t>
            </a:r>
            <a:r>
              <a:rPr lang="fr-FR" altLang="fr-FR" dirty="0" err="1"/>
              <a:t>Dét</a:t>
            </a:r>
            <a:r>
              <a:rPr lang="fr-FR" altLang="fr-FR" dirty="0"/>
              <a:t> du ratio de </a:t>
            </a:r>
            <a:r>
              <a:rPr lang="fr-FR" altLang="fr-FR" dirty="0" smtClean="0"/>
              <a:t>discrimination : RD</a:t>
            </a:r>
            <a:r>
              <a:rPr lang="fr-FR" altLang="fr-FR" dirty="0"/>
              <a:t>= [AC] / [AB</a:t>
            </a:r>
            <a:r>
              <a:rPr lang="fr-FR" altLang="fr-FR" dirty="0" smtClean="0"/>
              <a:t>]</a:t>
            </a:r>
          </a:p>
          <a:p>
            <a:pPr marL="342900" indent="-342900" eaLnBrk="1" hangingPunct="1"/>
            <a:r>
              <a:rPr lang="fr-FR" altLang="fr-FR" dirty="0" smtClean="0"/>
              <a:t>				     6. </a:t>
            </a:r>
            <a:r>
              <a:rPr lang="fr-FR" altLang="fr-FR" dirty="0" err="1" smtClean="0"/>
              <a:t>Dét</a:t>
            </a:r>
            <a:r>
              <a:rPr lang="fr-FR" altLang="fr-FR" dirty="0" smtClean="0"/>
              <a:t>. Des familles</a:t>
            </a:r>
          </a:p>
          <a:p>
            <a:pPr marL="342900" indent="-342900" eaLnBrk="1" hangingPunct="1"/>
            <a:r>
              <a:rPr lang="fr-FR" altLang="fr-FR" dirty="0" smtClean="0"/>
              <a:t>				         de population impactantes </a:t>
            </a:r>
            <a:endParaRPr lang="fr-FR" altLang="fr-FR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405563" y="5101978"/>
            <a:ext cx="2928937" cy="1756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42" name="Groupe 41"/>
          <p:cNvGrpSpPr/>
          <p:nvPr/>
        </p:nvGrpSpPr>
        <p:grpSpPr>
          <a:xfrm>
            <a:off x="7289188" y="2571750"/>
            <a:ext cx="2378687" cy="2185253"/>
            <a:chOff x="7289188" y="2571750"/>
            <a:chExt cx="2378687" cy="2185253"/>
          </a:xfrm>
        </p:grpSpPr>
        <p:grpSp>
          <p:nvGrpSpPr>
            <p:cNvPr id="24" name="Group 19"/>
            <p:cNvGrpSpPr>
              <a:grpSpLocks/>
            </p:cNvGrpSpPr>
            <p:nvPr/>
          </p:nvGrpSpPr>
          <p:grpSpPr bwMode="auto">
            <a:xfrm>
              <a:off x="7289188" y="2571750"/>
              <a:ext cx="2378687" cy="2185253"/>
              <a:chOff x="365" y="2364"/>
              <a:chExt cx="859" cy="843"/>
            </a:xfrm>
          </p:grpSpPr>
          <p:grpSp>
            <p:nvGrpSpPr>
              <p:cNvPr id="25" name="Group 11"/>
              <p:cNvGrpSpPr>
                <a:grpSpLocks/>
              </p:cNvGrpSpPr>
              <p:nvPr/>
            </p:nvGrpSpPr>
            <p:grpSpPr bwMode="auto">
              <a:xfrm>
                <a:off x="365" y="2364"/>
                <a:ext cx="115" cy="783"/>
                <a:chOff x="365" y="2364"/>
                <a:chExt cx="115" cy="783"/>
              </a:xfrm>
            </p:grpSpPr>
            <p:sp>
              <p:nvSpPr>
                <p:cNvPr id="32" name="Line 6"/>
                <p:cNvSpPr>
                  <a:spLocks noChangeShapeType="1"/>
                </p:cNvSpPr>
                <p:nvPr/>
              </p:nvSpPr>
              <p:spPr bwMode="auto">
                <a:xfrm flipV="1">
                  <a:off x="422" y="2364"/>
                  <a:ext cx="7" cy="78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triangle" w="med" len="med"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3" name="Line 9"/>
                <p:cNvSpPr>
                  <a:spLocks noChangeShapeType="1"/>
                </p:cNvSpPr>
                <p:nvPr/>
              </p:nvSpPr>
              <p:spPr bwMode="auto">
                <a:xfrm>
                  <a:off x="384" y="2592"/>
                  <a:ext cx="96" cy="11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4" name="Line 10"/>
                <p:cNvSpPr>
                  <a:spLocks noChangeShapeType="1"/>
                </p:cNvSpPr>
                <p:nvPr/>
              </p:nvSpPr>
              <p:spPr bwMode="auto">
                <a:xfrm>
                  <a:off x="365" y="2647"/>
                  <a:ext cx="96" cy="11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6" name="Line 13"/>
              <p:cNvSpPr>
                <a:spLocks noChangeShapeType="1"/>
              </p:cNvSpPr>
              <p:nvPr/>
            </p:nvSpPr>
            <p:spPr bwMode="auto">
              <a:xfrm rot="5400000" flipV="1">
                <a:off x="805" y="2761"/>
                <a:ext cx="7" cy="7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fr-FR"/>
              </a:p>
            </p:txBody>
          </p:sp>
          <p:grpSp>
            <p:nvGrpSpPr>
              <p:cNvPr id="27" name="Group 16"/>
              <p:cNvGrpSpPr>
                <a:grpSpLocks/>
              </p:cNvGrpSpPr>
              <p:nvPr/>
            </p:nvGrpSpPr>
            <p:grpSpPr bwMode="auto">
              <a:xfrm flipH="1">
                <a:off x="800" y="3092"/>
                <a:ext cx="173" cy="115"/>
                <a:chOff x="800" y="3092"/>
                <a:chExt cx="173" cy="115"/>
              </a:xfrm>
            </p:grpSpPr>
            <p:sp>
              <p:nvSpPr>
                <p:cNvPr id="30" name="Line 14"/>
                <p:cNvSpPr>
                  <a:spLocks noChangeShapeType="1"/>
                </p:cNvSpPr>
                <p:nvPr/>
              </p:nvSpPr>
              <p:spPr bwMode="auto">
                <a:xfrm rot="5400000">
                  <a:off x="866" y="3100"/>
                  <a:ext cx="96" cy="11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  <p:sp>
              <p:nvSpPr>
                <p:cNvPr id="31" name="Line 15"/>
                <p:cNvSpPr>
                  <a:spLocks noChangeShapeType="1"/>
                </p:cNvSpPr>
                <p:nvPr/>
              </p:nvSpPr>
              <p:spPr bwMode="auto">
                <a:xfrm rot="5400000">
                  <a:off x="811" y="3081"/>
                  <a:ext cx="96" cy="118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fr-FR"/>
                </a:p>
              </p:txBody>
            </p:sp>
          </p:grpSp>
          <p:sp>
            <p:nvSpPr>
              <p:cNvPr id="28" name="Arc 17"/>
              <p:cNvSpPr>
                <a:spLocks/>
              </p:cNvSpPr>
              <p:nvPr/>
            </p:nvSpPr>
            <p:spPr bwMode="auto">
              <a:xfrm rot="10800000" flipV="1">
                <a:off x="428" y="2422"/>
                <a:ext cx="796" cy="724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fr-FR"/>
              </a:p>
            </p:txBody>
          </p:sp>
          <p:sp>
            <p:nvSpPr>
              <p:cNvPr id="29" name="Line 18"/>
              <p:cNvSpPr>
                <a:spLocks noChangeShapeType="1"/>
              </p:cNvSpPr>
              <p:nvPr/>
            </p:nvSpPr>
            <p:spPr bwMode="auto">
              <a:xfrm>
                <a:off x="428" y="2378"/>
                <a:ext cx="754" cy="78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</p:grpSp>
        <p:sp>
          <p:nvSpPr>
            <p:cNvPr id="37" name="Forme libre 36"/>
            <p:cNvSpPr/>
            <p:nvPr/>
          </p:nvSpPr>
          <p:spPr>
            <a:xfrm>
              <a:off x="7440613" y="2714625"/>
              <a:ext cx="2227262" cy="1876425"/>
            </a:xfrm>
            <a:custGeom>
              <a:avLst/>
              <a:gdLst>
                <a:gd name="connsiteX0" fmla="*/ 26987 w 1389062"/>
                <a:gd name="connsiteY0" fmla="*/ 1933575 h 1933575"/>
                <a:gd name="connsiteX1" fmla="*/ 227012 w 1389062"/>
                <a:gd name="connsiteY1" fmla="*/ 333375 h 1933575"/>
                <a:gd name="connsiteX2" fmla="*/ 1389062 w 1389062"/>
                <a:gd name="connsiteY2" fmla="*/ 0 h 19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89062" h="1933575">
                  <a:moveTo>
                    <a:pt x="26987" y="1933575"/>
                  </a:moveTo>
                  <a:cubicBezTo>
                    <a:pt x="13493" y="1294606"/>
                    <a:pt x="0" y="655637"/>
                    <a:pt x="227012" y="333375"/>
                  </a:cubicBezTo>
                  <a:cubicBezTo>
                    <a:pt x="454024" y="11113"/>
                    <a:pt x="1184275" y="50800"/>
                    <a:pt x="1389062" y="0"/>
                  </a:cubicBezTo>
                </a:path>
              </a:pathLst>
            </a:custGeom>
            <a:ln w="254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1" name="Forme libre 40"/>
            <p:cNvSpPr/>
            <p:nvPr/>
          </p:nvSpPr>
          <p:spPr>
            <a:xfrm>
              <a:off x="7477125" y="2752725"/>
              <a:ext cx="2171700" cy="1828800"/>
            </a:xfrm>
            <a:custGeom>
              <a:avLst/>
              <a:gdLst>
                <a:gd name="connsiteX0" fmla="*/ 0 w 2171700"/>
                <a:gd name="connsiteY0" fmla="*/ 1828800 h 1828800"/>
                <a:gd name="connsiteX1" fmla="*/ 942975 w 2171700"/>
                <a:gd name="connsiteY1" fmla="*/ 800100 h 1828800"/>
                <a:gd name="connsiteX2" fmla="*/ 2171700 w 2171700"/>
                <a:gd name="connsiteY2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171700" h="1828800">
                  <a:moveTo>
                    <a:pt x="0" y="1828800"/>
                  </a:moveTo>
                  <a:cubicBezTo>
                    <a:pt x="290512" y="1466850"/>
                    <a:pt x="581025" y="1104900"/>
                    <a:pt x="942975" y="800100"/>
                  </a:cubicBezTo>
                  <a:cubicBezTo>
                    <a:pt x="1304925" y="495300"/>
                    <a:pt x="2171700" y="0"/>
                    <a:pt x="2171700" y="0"/>
                  </a:cubicBezTo>
                </a:path>
              </a:pathLst>
            </a:cu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6" name="Groupe 45"/>
          <p:cNvGrpSpPr/>
          <p:nvPr/>
        </p:nvGrpSpPr>
        <p:grpSpPr>
          <a:xfrm>
            <a:off x="8134350" y="3028951"/>
            <a:ext cx="1752600" cy="790575"/>
            <a:chOff x="8134350" y="3028951"/>
            <a:chExt cx="1752600" cy="790575"/>
          </a:xfrm>
        </p:grpSpPr>
        <p:cxnSp>
          <p:nvCxnSpPr>
            <p:cNvPr id="44" name="Connecteur droit avec flèche 43"/>
            <p:cNvCxnSpPr/>
            <p:nvPr/>
          </p:nvCxnSpPr>
          <p:spPr>
            <a:xfrm rot="10800000">
              <a:off x="8134350" y="3028951"/>
              <a:ext cx="800100" cy="790575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ZoneTexte 44"/>
            <p:cNvSpPr txBox="1"/>
            <p:nvPr/>
          </p:nvSpPr>
          <p:spPr>
            <a:xfrm>
              <a:off x="8724900" y="3409950"/>
              <a:ext cx="11620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 smtClean="0"/>
                <a:t>RD</a:t>
              </a:r>
              <a:r>
                <a:rPr lang="fr-FR" dirty="0" smtClean="0">
                  <a:sym typeface="Wingdings"/>
                </a:rPr>
                <a:t> </a:t>
              </a:r>
              <a:endParaRPr lang="fr-FR" dirty="0"/>
            </a:p>
          </p:txBody>
        </p:sp>
      </p:grpSp>
      <p:grpSp>
        <p:nvGrpSpPr>
          <p:cNvPr id="35" name="Groupe 34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36" name="ZoneTexte 35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5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38" name="Connecteur droit 37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9580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 autoUpdateAnimBg="0"/>
      <p:bldP spid="23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/>
          <p:cNvSpPr txBox="1"/>
          <p:nvPr/>
        </p:nvSpPr>
        <p:spPr>
          <a:xfrm>
            <a:off x="7349840" y="132550"/>
            <a:ext cx="376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5</a:t>
            </a:r>
            <a:r>
              <a:rPr lang="fr-FR" dirty="0" smtClean="0"/>
              <a:t>. </a:t>
            </a:r>
            <a:r>
              <a:rPr lang="fr-FR" altLang="fr-FR" dirty="0"/>
              <a:t>Déterminer les actions </a:t>
            </a:r>
            <a:r>
              <a:rPr lang="fr-FR" altLang="fr-FR" dirty="0" smtClean="0"/>
              <a:t>correctives</a:t>
            </a:r>
            <a:endParaRPr lang="fr-FR" altLang="fr-FR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5" name="Image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cxnSp>
        <p:nvCxnSpPr>
          <p:cNvPr id="6" name="Connecteur droit avec flèche 5"/>
          <p:cNvCxnSpPr/>
          <p:nvPr/>
        </p:nvCxnSpPr>
        <p:spPr>
          <a:xfrm flipH="1">
            <a:off x="5043434" y="984368"/>
            <a:ext cx="2302626" cy="212982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7322800" y="689957"/>
            <a:ext cx="42229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Matrice de </a:t>
            </a:r>
            <a:r>
              <a:rPr lang="fr-FR" sz="3600" dirty="0" err="1" smtClean="0"/>
              <a:t>selection</a:t>
            </a:r>
            <a:endParaRPr lang="fr-FR" sz="3600" dirty="0"/>
          </a:p>
        </p:txBody>
      </p:sp>
      <p:pic>
        <p:nvPicPr>
          <p:cNvPr id="16" name="Imag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819418" y="1336288"/>
            <a:ext cx="2826510" cy="2206828"/>
          </a:xfrm>
          <a:prstGeom prst="rect">
            <a:avLst/>
          </a:prstGeom>
        </p:spPr>
      </p:pic>
      <p:sp>
        <p:nvSpPr>
          <p:cNvPr id="17" name="ZoneTexte 16"/>
          <p:cNvSpPr txBox="1"/>
          <p:nvPr/>
        </p:nvSpPr>
        <p:spPr>
          <a:xfrm>
            <a:off x="7346060" y="3408607"/>
            <a:ext cx="4499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Matrice de priorisation</a:t>
            </a:r>
            <a:endParaRPr lang="fr-FR" sz="3600" dirty="0"/>
          </a:p>
        </p:txBody>
      </p:sp>
      <p:cxnSp>
        <p:nvCxnSpPr>
          <p:cNvPr id="18" name="Connecteur droit avec flèche 17"/>
          <p:cNvCxnSpPr/>
          <p:nvPr/>
        </p:nvCxnSpPr>
        <p:spPr>
          <a:xfrm flipH="1" flipV="1">
            <a:off x="5162204" y="3259378"/>
            <a:ext cx="2197100" cy="472394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Image 1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62258" y="4232311"/>
            <a:ext cx="4544059" cy="1609950"/>
          </a:xfrm>
          <a:prstGeom prst="rect">
            <a:avLst/>
          </a:prstGeom>
        </p:spPr>
      </p:pic>
      <p:grpSp>
        <p:nvGrpSpPr>
          <p:cNvPr id="12" name="Groupe 11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3" name="ZoneTexte 12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6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5" name="Connecteur droit 1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9580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/>
          <p:cNvSpPr txBox="1"/>
          <p:nvPr/>
        </p:nvSpPr>
        <p:spPr>
          <a:xfrm>
            <a:off x="8067181" y="1040606"/>
            <a:ext cx="322946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Matière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productions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Main d’œuvre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Méthode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Milieu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de contrôle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Moyens financiers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(Maintenance)</a:t>
            </a:r>
          </a:p>
          <a:p>
            <a:endParaRPr lang="fr-FR" dirty="0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9506" y="836224"/>
            <a:ext cx="6182294" cy="49225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9" name="Rectangle 18"/>
          <p:cNvSpPr/>
          <p:nvPr/>
        </p:nvSpPr>
        <p:spPr>
          <a:xfrm>
            <a:off x="2506753" y="320159"/>
            <a:ext cx="57660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42950" lvl="1" indent="-285750"/>
            <a:r>
              <a:rPr lang="fr-FR" dirty="0" smtClean="0"/>
              <a:t>Avez-vous balayer les grand thèmes du 8M dans le 5P?</a:t>
            </a: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99493" y="3952875"/>
            <a:ext cx="3250784" cy="2538084"/>
          </a:xfrm>
          <a:prstGeom prst="rect">
            <a:avLst/>
          </a:prstGeom>
        </p:spPr>
      </p:pic>
      <p:cxnSp>
        <p:nvCxnSpPr>
          <p:cNvPr id="36" name="Connecteur droit avec flèche 35"/>
          <p:cNvCxnSpPr/>
          <p:nvPr/>
        </p:nvCxnSpPr>
        <p:spPr>
          <a:xfrm rot="10800000" flipV="1">
            <a:off x="2676526" y="4533900"/>
            <a:ext cx="1857377" cy="228600"/>
          </a:xfrm>
          <a:prstGeom prst="straightConnector1">
            <a:avLst/>
          </a:prstGeom>
          <a:ln w="3175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/>
          <p:cNvCxnSpPr/>
          <p:nvPr/>
        </p:nvCxnSpPr>
        <p:spPr>
          <a:xfrm rot="10800000">
            <a:off x="1104900" y="4210050"/>
            <a:ext cx="3476630" cy="1209678"/>
          </a:xfrm>
          <a:prstGeom prst="straightConnector1">
            <a:avLst/>
          </a:prstGeom>
          <a:ln w="31750">
            <a:solidFill>
              <a:srgbClr val="FFC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necteur droit avec flèche 42"/>
          <p:cNvCxnSpPr/>
          <p:nvPr/>
        </p:nvCxnSpPr>
        <p:spPr>
          <a:xfrm rot="10800000">
            <a:off x="2047876" y="4657725"/>
            <a:ext cx="2495555" cy="333380"/>
          </a:xfrm>
          <a:prstGeom prst="straightConnector1">
            <a:avLst/>
          </a:prstGeom>
          <a:ln w="31750">
            <a:solidFill>
              <a:srgbClr val="FFC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/>
          <p:cNvCxnSpPr/>
          <p:nvPr/>
        </p:nvCxnSpPr>
        <p:spPr>
          <a:xfrm>
            <a:off x="3505202" y="3905250"/>
            <a:ext cx="485773" cy="314325"/>
          </a:xfrm>
          <a:prstGeom prst="straightConnector1">
            <a:avLst/>
          </a:prstGeom>
          <a:ln w="3175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eur droit avec flèche 51"/>
          <p:cNvCxnSpPr/>
          <p:nvPr/>
        </p:nvCxnSpPr>
        <p:spPr>
          <a:xfrm rot="10800000" flipV="1">
            <a:off x="3552826" y="4133850"/>
            <a:ext cx="1000127" cy="800100"/>
          </a:xfrm>
          <a:prstGeom prst="straightConnector1">
            <a:avLst/>
          </a:prstGeom>
          <a:ln w="31750">
            <a:solidFill>
              <a:srgbClr val="FF0000"/>
            </a:solidFill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e 53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55" name="ZoneTexte 5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4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6" name="Connecteur droit 55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Connecteur droit 56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49580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" name="Groupe 167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169" name="Image 168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170" name="Image 169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sp>
        <p:nvSpPr>
          <p:cNvPr id="2" name="ZoneTexte 1"/>
          <p:cNvSpPr txBox="1"/>
          <p:nvPr/>
        </p:nvSpPr>
        <p:spPr>
          <a:xfrm>
            <a:off x="7140629" y="132550"/>
            <a:ext cx="504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fr-FR" dirty="0" smtClean="0"/>
              <a:t>6. Mettre en œuvre et valider les actions correctives</a:t>
            </a:r>
            <a:endParaRPr lang="fr-FR" altLang="fr-FR" dirty="0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5043434" y="984368"/>
            <a:ext cx="2302626" cy="2129828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ZoneTexte 6"/>
          <p:cNvSpPr txBox="1"/>
          <p:nvPr/>
        </p:nvSpPr>
        <p:spPr>
          <a:xfrm>
            <a:off x="7373389" y="723204"/>
            <a:ext cx="44389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Plan d’action</a:t>
            </a:r>
            <a:endParaRPr lang="fr-FR" sz="3600" dirty="0"/>
          </a:p>
        </p:txBody>
      </p:sp>
      <p:pic>
        <p:nvPicPr>
          <p:cNvPr id="8" name="Picture 7" descr="gant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7508586" y="1394475"/>
            <a:ext cx="3805035" cy="232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ZoneTexte 8"/>
          <p:cNvSpPr txBox="1"/>
          <p:nvPr/>
        </p:nvSpPr>
        <p:spPr>
          <a:xfrm>
            <a:off x="7182196" y="3724102"/>
            <a:ext cx="50098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smtClean="0"/>
              <a:t>Indicateurs opérationnels</a:t>
            </a:r>
            <a:endParaRPr lang="fr-FR" sz="3600" dirty="0"/>
          </a:p>
        </p:txBody>
      </p:sp>
      <p:sp>
        <p:nvSpPr>
          <p:cNvPr id="10" name="ZoneTexte 9"/>
          <p:cNvSpPr txBox="1"/>
          <p:nvPr/>
        </p:nvSpPr>
        <p:spPr>
          <a:xfrm>
            <a:off x="7697585" y="4370433"/>
            <a:ext cx="38072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Valeur initiale (sans amélioration)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Valeur cible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Valeur atteinte</a:t>
            </a:r>
            <a:endParaRPr lang="fr-FR" dirty="0"/>
          </a:p>
        </p:txBody>
      </p:sp>
      <p:grpSp>
        <p:nvGrpSpPr>
          <p:cNvPr id="176" name="Groupe 175"/>
          <p:cNvGrpSpPr/>
          <p:nvPr/>
        </p:nvGrpSpPr>
        <p:grpSpPr>
          <a:xfrm>
            <a:off x="9867698" y="4788473"/>
            <a:ext cx="1944687" cy="1198563"/>
            <a:chOff x="9867698" y="4788473"/>
            <a:chExt cx="1944687" cy="1198563"/>
          </a:xfrm>
        </p:grpSpPr>
        <p:grpSp>
          <p:nvGrpSpPr>
            <p:cNvPr id="11" name="Group 8"/>
            <p:cNvGrpSpPr>
              <a:grpSpLocks noChangeAspect="1"/>
            </p:cNvGrpSpPr>
            <p:nvPr/>
          </p:nvGrpSpPr>
          <p:grpSpPr bwMode="auto">
            <a:xfrm>
              <a:off x="9867698" y="4788473"/>
              <a:ext cx="1944687" cy="1198563"/>
              <a:chOff x="1655" y="1026"/>
              <a:chExt cx="1588" cy="1057"/>
            </a:xfrm>
          </p:grpSpPr>
          <p:sp>
            <p:nvSpPr>
              <p:cNvPr id="12" name="AutoShape 9"/>
              <p:cNvSpPr>
                <a:spLocks noChangeAspect="1" noChangeArrowheads="1" noTextEdit="1"/>
              </p:cNvSpPr>
              <p:nvPr/>
            </p:nvSpPr>
            <p:spPr bwMode="auto">
              <a:xfrm>
                <a:off x="1655" y="1026"/>
                <a:ext cx="1588" cy="1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" name="Freeform 10"/>
              <p:cNvSpPr>
                <a:spLocks/>
              </p:cNvSpPr>
              <p:nvPr/>
            </p:nvSpPr>
            <p:spPr bwMode="auto">
              <a:xfrm>
                <a:off x="1655" y="1026"/>
                <a:ext cx="1585" cy="1054"/>
              </a:xfrm>
              <a:custGeom>
                <a:avLst/>
                <a:gdLst>
                  <a:gd name="T0" fmla="*/ 0 w 1585"/>
                  <a:gd name="T1" fmla="*/ 0 h 1054"/>
                  <a:gd name="T2" fmla="*/ 1585 w 1585"/>
                  <a:gd name="T3" fmla="*/ 0 h 1054"/>
                  <a:gd name="T4" fmla="*/ 0 w 1585"/>
                  <a:gd name="T5" fmla="*/ 1054 h 1054"/>
                  <a:gd name="T6" fmla="*/ 0 w 1585"/>
                  <a:gd name="T7" fmla="*/ 0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5" h="1054">
                    <a:moveTo>
                      <a:pt x="0" y="0"/>
                    </a:moveTo>
                    <a:lnTo>
                      <a:pt x="1585" y="0"/>
                    </a:lnTo>
                    <a:lnTo>
                      <a:pt x="0" y="105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1ECE2"/>
              </a:solidFill>
              <a:ln w="4763">
                <a:solidFill>
                  <a:srgbClr val="F1ECE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" name="Freeform 11"/>
              <p:cNvSpPr>
                <a:spLocks/>
              </p:cNvSpPr>
              <p:nvPr/>
            </p:nvSpPr>
            <p:spPr bwMode="auto">
              <a:xfrm>
                <a:off x="1655" y="1026"/>
                <a:ext cx="1585" cy="1054"/>
              </a:xfrm>
              <a:custGeom>
                <a:avLst/>
                <a:gdLst>
                  <a:gd name="T0" fmla="*/ 0 w 1585"/>
                  <a:gd name="T1" fmla="*/ 1054 h 1054"/>
                  <a:gd name="T2" fmla="*/ 1585 w 1585"/>
                  <a:gd name="T3" fmla="*/ 1054 h 1054"/>
                  <a:gd name="T4" fmla="*/ 1585 w 1585"/>
                  <a:gd name="T5" fmla="*/ 0 h 1054"/>
                  <a:gd name="T6" fmla="*/ 0 w 1585"/>
                  <a:gd name="T7" fmla="*/ 1054 h 10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585" h="1054">
                    <a:moveTo>
                      <a:pt x="0" y="1054"/>
                    </a:moveTo>
                    <a:lnTo>
                      <a:pt x="1585" y="1054"/>
                    </a:lnTo>
                    <a:lnTo>
                      <a:pt x="1585" y="0"/>
                    </a:lnTo>
                    <a:lnTo>
                      <a:pt x="0" y="1054"/>
                    </a:lnTo>
                    <a:close/>
                  </a:path>
                </a:pathLst>
              </a:custGeom>
              <a:solidFill>
                <a:srgbClr val="F1ECE2"/>
              </a:solidFill>
              <a:ln w="4763">
                <a:solidFill>
                  <a:srgbClr val="F1ECE2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5" name="Rectangle 12"/>
              <p:cNvSpPr>
                <a:spLocks noChangeArrowheads="1"/>
              </p:cNvSpPr>
              <p:nvPr/>
            </p:nvSpPr>
            <p:spPr bwMode="auto">
              <a:xfrm>
                <a:off x="1655" y="1026"/>
                <a:ext cx="1585" cy="10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4826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6" name="Freeform 13"/>
              <p:cNvSpPr>
                <a:spLocks/>
              </p:cNvSpPr>
              <p:nvPr/>
            </p:nvSpPr>
            <p:spPr bwMode="auto">
              <a:xfrm>
                <a:off x="1804" y="1172"/>
                <a:ext cx="1362" cy="762"/>
              </a:xfrm>
              <a:custGeom>
                <a:avLst/>
                <a:gdLst>
                  <a:gd name="T0" fmla="*/ 0 w 1362"/>
                  <a:gd name="T1" fmla="*/ 0 h 762"/>
                  <a:gd name="T2" fmla="*/ 1362 w 1362"/>
                  <a:gd name="T3" fmla="*/ 0 h 762"/>
                  <a:gd name="T4" fmla="*/ 0 w 1362"/>
                  <a:gd name="T5" fmla="*/ 762 h 762"/>
                  <a:gd name="T6" fmla="*/ 0 w 1362"/>
                  <a:gd name="T7" fmla="*/ 0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62" h="762">
                    <a:moveTo>
                      <a:pt x="0" y="0"/>
                    </a:moveTo>
                    <a:lnTo>
                      <a:pt x="1362" y="0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7" name="Freeform 14"/>
              <p:cNvSpPr>
                <a:spLocks/>
              </p:cNvSpPr>
              <p:nvPr/>
            </p:nvSpPr>
            <p:spPr bwMode="auto">
              <a:xfrm>
                <a:off x="1804" y="1172"/>
                <a:ext cx="1362" cy="762"/>
              </a:xfrm>
              <a:custGeom>
                <a:avLst/>
                <a:gdLst>
                  <a:gd name="T0" fmla="*/ 0 w 1362"/>
                  <a:gd name="T1" fmla="*/ 762 h 762"/>
                  <a:gd name="T2" fmla="*/ 1362 w 1362"/>
                  <a:gd name="T3" fmla="*/ 762 h 762"/>
                  <a:gd name="T4" fmla="*/ 1362 w 1362"/>
                  <a:gd name="T5" fmla="*/ 0 h 762"/>
                  <a:gd name="T6" fmla="*/ 0 w 1362"/>
                  <a:gd name="T7" fmla="*/ 762 h 7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362" h="762">
                    <a:moveTo>
                      <a:pt x="0" y="762"/>
                    </a:moveTo>
                    <a:lnTo>
                      <a:pt x="1362" y="762"/>
                    </a:lnTo>
                    <a:lnTo>
                      <a:pt x="1362" y="0"/>
                    </a:lnTo>
                    <a:lnTo>
                      <a:pt x="0" y="762"/>
                    </a:lnTo>
                    <a:close/>
                  </a:path>
                </a:pathLst>
              </a:custGeom>
              <a:solidFill>
                <a:srgbClr val="FFFFFF"/>
              </a:solidFill>
              <a:ln w="4763">
                <a:solidFill>
                  <a:srgbClr val="FFFFFF"/>
                </a:solidFill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8" name="Rectangle 15"/>
              <p:cNvSpPr>
                <a:spLocks noChangeArrowheads="1"/>
              </p:cNvSpPr>
              <p:nvPr/>
            </p:nvSpPr>
            <p:spPr bwMode="auto">
              <a:xfrm>
                <a:off x="2431" y="1995"/>
                <a:ext cx="5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M</a:t>
                </a:r>
                <a:endParaRPr lang="fr-FR" altLang="fr-FR"/>
              </a:p>
            </p:txBody>
          </p:sp>
          <p:sp>
            <p:nvSpPr>
              <p:cNvPr id="19" name="Rectangle 16"/>
              <p:cNvSpPr>
                <a:spLocks noChangeArrowheads="1"/>
              </p:cNvSpPr>
              <p:nvPr/>
            </p:nvSpPr>
            <p:spPr bwMode="auto">
              <a:xfrm>
                <a:off x="2463" y="1995"/>
                <a:ext cx="35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20" name="Rectangle 17"/>
              <p:cNvSpPr>
                <a:spLocks noChangeArrowheads="1"/>
              </p:cNvSpPr>
              <p:nvPr/>
            </p:nvSpPr>
            <p:spPr bwMode="auto">
              <a:xfrm>
                <a:off x="2484" y="1995"/>
                <a:ext cx="36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21" name="Rectangle 18"/>
              <p:cNvSpPr>
                <a:spLocks noChangeArrowheads="1"/>
              </p:cNvSpPr>
              <p:nvPr/>
            </p:nvSpPr>
            <p:spPr bwMode="auto">
              <a:xfrm>
                <a:off x="2509" y="1995"/>
                <a:ext cx="24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  <p:sp>
            <p:nvSpPr>
              <p:cNvPr id="22" name="Rectangle 19"/>
              <p:cNvSpPr>
                <a:spLocks noChangeArrowheads="1"/>
              </p:cNvSpPr>
              <p:nvPr/>
            </p:nvSpPr>
            <p:spPr bwMode="auto">
              <a:xfrm>
                <a:off x="2523" y="1995"/>
                <a:ext cx="37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h</a:t>
                </a:r>
                <a:endParaRPr lang="fr-FR" altLang="fr-FR"/>
              </a:p>
            </p:txBody>
          </p:sp>
          <p:sp>
            <p:nvSpPr>
              <p:cNvPr id="23" name="Rectangle 20"/>
              <p:cNvSpPr>
                <a:spLocks noChangeArrowheads="1"/>
              </p:cNvSpPr>
              <p:nvPr/>
            </p:nvSpPr>
            <p:spPr bwMode="auto">
              <a:xfrm rot="16200000">
                <a:off x="1714" y="1621"/>
                <a:ext cx="27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</a:t>
                </a:r>
                <a:endParaRPr lang="fr-FR" altLang="fr-FR"/>
              </a:p>
            </p:txBody>
          </p:sp>
          <p:sp>
            <p:nvSpPr>
              <p:cNvPr id="24" name="Rectangle 21"/>
              <p:cNvSpPr>
                <a:spLocks noChangeArrowheads="1"/>
              </p:cNvSpPr>
              <p:nvPr/>
            </p:nvSpPr>
            <p:spPr bwMode="auto">
              <a:xfrm rot="16200000">
                <a:off x="1709" y="1602"/>
                <a:ext cx="37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25" name="Rectangle 22"/>
              <p:cNvSpPr>
                <a:spLocks noChangeArrowheads="1"/>
              </p:cNvSpPr>
              <p:nvPr/>
            </p:nvSpPr>
            <p:spPr bwMode="auto">
              <a:xfrm rot="16200000">
                <a:off x="1710" y="1580"/>
                <a:ext cx="35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</a:t>
                </a:r>
                <a:endParaRPr lang="fr-FR" altLang="fr-FR"/>
              </a:p>
            </p:txBody>
          </p:sp>
          <p:sp>
            <p:nvSpPr>
              <p:cNvPr id="26" name="Rectangle 23"/>
              <p:cNvSpPr>
                <a:spLocks noChangeArrowheads="1"/>
              </p:cNvSpPr>
              <p:nvPr/>
            </p:nvSpPr>
            <p:spPr bwMode="auto">
              <a:xfrm rot="16200000">
                <a:off x="1719" y="1564"/>
                <a:ext cx="17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</a:t>
                </a:r>
                <a:endParaRPr lang="fr-FR" altLang="fr-FR"/>
              </a:p>
            </p:txBody>
          </p:sp>
          <p:sp>
            <p:nvSpPr>
              <p:cNvPr id="27" name="Rectangle 24"/>
              <p:cNvSpPr>
                <a:spLocks noChangeArrowheads="1"/>
              </p:cNvSpPr>
              <p:nvPr/>
            </p:nvSpPr>
            <p:spPr bwMode="auto">
              <a:xfrm rot="16200000">
                <a:off x="1713" y="1552"/>
                <a:ext cx="30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28" name="Rectangle 25"/>
              <p:cNvSpPr>
                <a:spLocks noChangeArrowheads="1"/>
              </p:cNvSpPr>
              <p:nvPr/>
            </p:nvSpPr>
            <p:spPr bwMode="auto">
              <a:xfrm rot="16200000">
                <a:off x="1711" y="1530"/>
                <a:ext cx="34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29" name="Rectangle 26"/>
              <p:cNvSpPr>
                <a:spLocks noChangeArrowheads="1"/>
              </p:cNvSpPr>
              <p:nvPr/>
            </p:nvSpPr>
            <p:spPr bwMode="auto">
              <a:xfrm rot="16200000">
                <a:off x="1716" y="1513"/>
                <a:ext cx="24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  <p:sp>
            <p:nvSpPr>
              <p:cNvPr id="30" name="Rectangle 27"/>
              <p:cNvSpPr>
                <a:spLocks noChangeArrowheads="1"/>
              </p:cNvSpPr>
              <p:nvPr/>
            </p:nvSpPr>
            <p:spPr bwMode="auto">
              <a:xfrm rot="16200000">
                <a:off x="1710" y="1492"/>
                <a:ext cx="35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31" name="Rectangle 28"/>
              <p:cNvSpPr>
                <a:spLocks noChangeArrowheads="1"/>
              </p:cNvSpPr>
              <p:nvPr/>
            </p:nvSpPr>
            <p:spPr bwMode="auto">
              <a:xfrm rot="16200000">
                <a:off x="1716" y="1472"/>
                <a:ext cx="24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32" name="Rectangle 29"/>
              <p:cNvSpPr>
                <a:spLocks noChangeArrowheads="1"/>
              </p:cNvSpPr>
              <p:nvPr/>
            </p:nvSpPr>
            <p:spPr bwMode="auto">
              <a:xfrm rot="16200000">
                <a:off x="1719" y="1461"/>
                <a:ext cx="17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endParaRPr lang="fr-FR" altLang="fr-FR"/>
              </a:p>
            </p:txBody>
          </p:sp>
          <p:sp>
            <p:nvSpPr>
              <p:cNvPr id="33" name="Rectangle 30"/>
              <p:cNvSpPr>
                <a:spLocks noChangeArrowheads="1"/>
              </p:cNvSpPr>
              <p:nvPr/>
            </p:nvSpPr>
            <p:spPr bwMode="auto">
              <a:xfrm rot="16200000">
                <a:off x="1710" y="1442"/>
                <a:ext cx="36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</a:t>
                </a:r>
                <a:endParaRPr lang="fr-FR" altLang="fr-FR"/>
              </a:p>
            </p:txBody>
          </p:sp>
          <p:sp>
            <p:nvSpPr>
              <p:cNvPr id="34" name="Rectangle 31"/>
              <p:cNvSpPr>
                <a:spLocks noChangeArrowheads="1"/>
              </p:cNvSpPr>
              <p:nvPr/>
            </p:nvSpPr>
            <p:spPr bwMode="auto">
              <a:xfrm rot="16200000">
                <a:off x="1710" y="1418"/>
                <a:ext cx="35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9</a:t>
                </a:r>
                <a:endParaRPr lang="fr-FR" altLang="fr-FR"/>
              </a:p>
            </p:txBody>
          </p:sp>
          <p:sp>
            <p:nvSpPr>
              <p:cNvPr id="35" name="Rectangle 32"/>
              <p:cNvSpPr>
                <a:spLocks noChangeArrowheads="1"/>
              </p:cNvSpPr>
              <p:nvPr/>
            </p:nvSpPr>
            <p:spPr bwMode="auto">
              <a:xfrm rot="16200000">
                <a:off x="1710" y="1394"/>
                <a:ext cx="35" cy="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9</a:t>
                </a:r>
                <a:endParaRPr lang="fr-FR" altLang="fr-FR"/>
              </a:p>
            </p:txBody>
          </p:sp>
          <p:sp>
            <p:nvSpPr>
              <p:cNvPr id="36" name="Line 33"/>
              <p:cNvSpPr>
                <a:spLocks noChangeShapeType="1"/>
              </p:cNvSpPr>
              <p:nvPr/>
            </p:nvSpPr>
            <p:spPr bwMode="auto">
              <a:xfrm>
                <a:off x="3158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7" name="Line 34"/>
              <p:cNvSpPr>
                <a:spLocks noChangeShapeType="1"/>
              </p:cNvSpPr>
              <p:nvPr/>
            </p:nvSpPr>
            <p:spPr bwMode="auto">
              <a:xfrm>
                <a:off x="3080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8" name="Line 35"/>
              <p:cNvSpPr>
                <a:spLocks noChangeShapeType="1"/>
              </p:cNvSpPr>
              <p:nvPr/>
            </p:nvSpPr>
            <p:spPr bwMode="auto">
              <a:xfrm>
                <a:off x="3000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39" name="Line 36"/>
              <p:cNvSpPr>
                <a:spLocks noChangeShapeType="1"/>
              </p:cNvSpPr>
              <p:nvPr/>
            </p:nvSpPr>
            <p:spPr bwMode="auto">
              <a:xfrm>
                <a:off x="2920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0" name="Line 37"/>
              <p:cNvSpPr>
                <a:spLocks noChangeShapeType="1"/>
              </p:cNvSpPr>
              <p:nvPr/>
            </p:nvSpPr>
            <p:spPr bwMode="auto">
              <a:xfrm>
                <a:off x="2840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1" name="Line 38"/>
              <p:cNvSpPr>
                <a:spLocks noChangeShapeType="1"/>
              </p:cNvSpPr>
              <p:nvPr/>
            </p:nvSpPr>
            <p:spPr bwMode="auto">
              <a:xfrm>
                <a:off x="2763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2" name="Line 39"/>
              <p:cNvSpPr>
                <a:spLocks noChangeShapeType="1"/>
              </p:cNvSpPr>
              <p:nvPr/>
            </p:nvSpPr>
            <p:spPr bwMode="auto">
              <a:xfrm>
                <a:off x="2683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3" name="Line 40"/>
              <p:cNvSpPr>
                <a:spLocks noChangeShapeType="1"/>
              </p:cNvSpPr>
              <p:nvPr/>
            </p:nvSpPr>
            <p:spPr bwMode="auto">
              <a:xfrm>
                <a:off x="2603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4" name="Line 41"/>
              <p:cNvSpPr>
                <a:spLocks noChangeShapeType="1"/>
              </p:cNvSpPr>
              <p:nvPr/>
            </p:nvSpPr>
            <p:spPr bwMode="auto">
              <a:xfrm>
                <a:off x="2526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5" name="Line 42"/>
              <p:cNvSpPr>
                <a:spLocks noChangeShapeType="1"/>
              </p:cNvSpPr>
              <p:nvPr/>
            </p:nvSpPr>
            <p:spPr bwMode="auto">
              <a:xfrm>
                <a:off x="2446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6" name="Line 43"/>
              <p:cNvSpPr>
                <a:spLocks noChangeShapeType="1"/>
              </p:cNvSpPr>
              <p:nvPr/>
            </p:nvSpPr>
            <p:spPr bwMode="auto">
              <a:xfrm>
                <a:off x="2366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7" name="Line 44"/>
              <p:cNvSpPr>
                <a:spLocks noChangeShapeType="1"/>
              </p:cNvSpPr>
              <p:nvPr/>
            </p:nvSpPr>
            <p:spPr bwMode="auto">
              <a:xfrm>
                <a:off x="2289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8" name="Line 45"/>
              <p:cNvSpPr>
                <a:spLocks noChangeShapeType="1"/>
              </p:cNvSpPr>
              <p:nvPr/>
            </p:nvSpPr>
            <p:spPr bwMode="auto">
              <a:xfrm>
                <a:off x="2209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49" name="Line 46"/>
              <p:cNvSpPr>
                <a:spLocks noChangeShapeType="1"/>
              </p:cNvSpPr>
              <p:nvPr/>
            </p:nvSpPr>
            <p:spPr bwMode="auto">
              <a:xfrm>
                <a:off x="2129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0" name="Line 47"/>
              <p:cNvSpPr>
                <a:spLocks noChangeShapeType="1"/>
              </p:cNvSpPr>
              <p:nvPr/>
            </p:nvSpPr>
            <p:spPr bwMode="auto">
              <a:xfrm>
                <a:off x="2049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>
                <a:off x="1972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2" name="Line 49"/>
              <p:cNvSpPr>
                <a:spLocks noChangeShapeType="1"/>
              </p:cNvSpPr>
              <p:nvPr/>
            </p:nvSpPr>
            <p:spPr bwMode="auto">
              <a:xfrm>
                <a:off x="1892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3" name="Line 50"/>
              <p:cNvSpPr>
                <a:spLocks noChangeShapeType="1"/>
              </p:cNvSpPr>
              <p:nvPr/>
            </p:nvSpPr>
            <p:spPr bwMode="auto">
              <a:xfrm>
                <a:off x="1812" y="1934"/>
                <a:ext cx="0" cy="14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4" name="Line 51"/>
              <p:cNvSpPr>
                <a:spLocks noChangeShapeType="1"/>
              </p:cNvSpPr>
              <p:nvPr/>
            </p:nvSpPr>
            <p:spPr bwMode="auto">
              <a:xfrm>
                <a:off x="1804" y="1172"/>
                <a:ext cx="136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>
                <a:off x="1804" y="1934"/>
                <a:ext cx="1362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6" name="Rectangle 53"/>
              <p:cNvSpPr>
                <a:spLocks noChangeArrowheads="1"/>
              </p:cNvSpPr>
              <p:nvPr/>
            </p:nvSpPr>
            <p:spPr bwMode="auto">
              <a:xfrm>
                <a:off x="3137" y="1947"/>
                <a:ext cx="2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J</a:t>
                </a:r>
                <a:endParaRPr lang="fr-FR" altLang="fr-FR"/>
              </a:p>
            </p:txBody>
          </p:sp>
          <p:sp>
            <p:nvSpPr>
              <p:cNvPr id="57" name="Rectangle 54"/>
              <p:cNvSpPr>
                <a:spLocks noChangeArrowheads="1"/>
              </p:cNvSpPr>
              <p:nvPr/>
            </p:nvSpPr>
            <p:spPr bwMode="auto">
              <a:xfrm>
                <a:off x="3149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u</a:t>
                </a:r>
                <a:endParaRPr lang="fr-FR" altLang="fr-FR"/>
              </a:p>
            </p:txBody>
          </p:sp>
          <p:sp>
            <p:nvSpPr>
              <p:cNvPr id="58" name="Rectangle 55"/>
              <p:cNvSpPr>
                <a:spLocks noChangeArrowheads="1"/>
              </p:cNvSpPr>
              <p:nvPr/>
            </p:nvSpPr>
            <p:spPr bwMode="auto">
              <a:xfrm>
                <a:off x="3169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3052" y="1947"/>
                <a:ext cx="4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M</a:t>
                </a:r>
                <a:endParaRPr lang="fr-FR" altLang="fr-FR"/>
              </a:p>
            </p:txBody>
          </p:sp>
          <p:sp>
            <p:nvSpPr>
              <p:cNvPr id="60" name="Rectangle 57"/>
              <p:cNvSpPr>
                <a:spLocks noChangeArrowheads="1"/>
              </p:cNvSpPr>
              <p:nvPr/>
            </p:nvSpPr>
            <p:spPr bwMode="auto">
              <a:xfrm>
                <a:off x="3081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61" name="Rectangle 58"/>
              <p:cNvSpPr>
                <a:spLocks noChangeArrowheads="1"/>
              </p:cNvSpPr>
              <p:nvPr/>
            </p:nvSpPr>
            <p:spPr bwMode="auto">
              <a:xfrm>
                <a:off x="3100" y="1947"/>
                <a:ext cx="28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</a:t>
                </a:r>
                <a:endParaRPr lang="fr-FR" altLang="fr-FR"/>
              </a:p>
            </p:txBody>
          </p:sp>
          <p:sp>
            <p:nvSpPr>
              <p:cNvPr id="62" name="Rectangle 59"/>
              <p:cNvSpPr>
                <a:spLocks noChangeArrowheads="1"/>
              </p:cNvSpPr>
              <p:nvPr/>
            </p:nvSpPr>
            <p:spPr bwMode="auto">
              <a:xfrm>
                <a:off x="2976" y="1947"/>
                <a:ext cx="3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63" name="Rectangle 60"/>
              <p:cNvSpPr>
                <a:spLocks noChangeArrowheads="1"/>
              </p:cNvSpPr>
              <p:nvPr/>
            </p:nvSpPr>
            <p:spPr bwMode="auto">
              <a:xfrm>
                <a:off x="2997" y="1947"/>
                <a:ext cx="3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</a:t>
                </a:r>
                <a:endParaRPr lang="fr-FR" altLang="fr-FR"/>
              </a:p>
            </p:txBody>
          </p:sp>
          <p:sp>
            <p:nvSpPr>
              <p:cNvPr id="64" name="Rectangle 61"/>
              <p:cNvSpPr>
                <a:spLocks noChangeArrowheads="1"/>
              </p:cNvSpPr>
              <p:nvPr/>
            </p:nvSpPr>
            <p:spPr bwMode="auto">
              <a:xfrm>
                <a:off x="3018" y="1947"/>
                <a:ext cx="1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65" name="Rectangle 62"/>
              <p:cNvSpPr>
                <a:spLocks noChangeArrowheads="1"/>
              </p:cNvSpPr>
              <p:nvPr/>
            </p:nvSpPr>
            <p:spPr bwMode="auto">
              <a:xfrm>
                <a:off x="2893" y="1947"/>
                <a:ext cx="4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M</a:t>
                </a:r>
                <a:endParaRPr lang="fr-FR" altLang="fr-FR"/>
              </a:p>
            </p:txBody>
          </p:sp>
          <p:sp>
            <p:nvSpPr>
              <p:cNvPr id="66" name="Rectangle 63"/>
              <p:cNvSpPr>
                <a:spLocks noChangeArrowheads="1"/>
              </p:cNvSpPr>
              <p:nvPr/>
            </p:nvSpPr>
            <p:spPr bwMode="auto">
              <a:xfrm>
                <a:off x="2924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67" name="Rectangle 64"/>
              <p:cNvSpPr>
                <a:spLocks noChangeArrowheads="1"/>
              </p:cNvSpPr>
              <p:nvPr/>
            </p:nvSpPr>
            <p:spPr bwMode="auto">
              <a:xfrm>
                <a:off x="2943" y="1947"/>
                <a:ext cx="2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68" name="Rectangle 65"/>
              <p:cNvSpPr>
                <a:spLocks noChangeArrowheads="1"/>
              </p:cNvSpPr>
              <p:nvPr/>
            </p:nvSpPr>
            <p:spPr bwMode="auto">
              <a:xfrm>
                <a:off x="2816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F</a:t>
                </a:r>
                <a:endParaRPr lang="fr-FR" altLang="fr-FR"/>
              </a:p>
            </p:txBody>
          </p:sp>
          <p:sp>
            <p:nvSpPr>
              <p:cNvPr id="69" name="Rectangle 66"/>
              <p:cNvSpPr>
                <a:spLocks noChangeArrowheads="1"/>
              </p:cNvSpPr>
              <p:nvPr/>
            </p:nvSpPr>
            <p:spPr bwMode="auto">
              <a:xfrm>
                <a:off x="2835" y="1947"/>
                <a:ext cx="3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</a:t>
                </a:r>
                <a:endParaRPr lang="fr-FR" altLang="fr-FR"/>
              </a:p>
            </p:txBody>
          </p:sp>
          <p:sp>
            <p:nvSpPr>
              <p:cNvPr id="70" name="Rectangle 67"/>
              <p:cNvSpPr>
                <a:spLocks noChangeArrowheads="1"/>
              </p:cNvSpPr>
              <p:nvPr/>
            </p:nvSpPr>
            <p:spPr bwMode="auto">
              <a:xfrm>
                <a:off x="2854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b</a:t>
                </a:r>
                <a:endParaRPr lang="fr-FR" altLang="fr-FR"/>
              </a:p>
            </p:txBody>
          </p:sp>
          <p:sp>
            <p:nvSpPr>
              <p:cNvPr id="71" name="Rectangle 68"/>
              <p:cNvSpPr>
                <a:spLocks noChangeArrowheads="1"/>
              </p:cNvSpPr>
              <p:nvPr/>
            </p:nvSpPr>
            <p:spPr bwMode="auto">
              <a:xfrm>
                <a:off x="2742" y="1947"/>
                <a:ext cx="2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J</a:t>
                </a:r>
                <a:endParaRPr lang="fr-FR" altLang="fr-FR"/>
              </a:p>
            </p:txBody>
          </p:sp>
          <p:sp>
            <p:nvSpPr>
              <p:cNvPr id="72" name="Rectangle 69"/>
              <p:cNvSpPr>
                <a:spLocks noChangeArrowheads="1"/>
              </p:cNvSpPr>
              <p:nvPr/>
            </p:nvSpPr>
            <p:spPr bwMode="auto">
              <a:xfrm>
                <a:off x="2756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73" name="Rectangle 70"/>
              <p:cNvSpPr>
                <a:spLocks noChangeArrowheads="1"/>
              </p:cNvSpPr>
              <p:nvPr/>
            </p:nvSpPr>
            <p:spPr bwMode="auto">
              <a:xfrm>
                <a:off x="2774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74" name="Rectangle 71"/>
              <p:cNvSpPr>
                <a:spLocks noChangeArrowheads="1"/>
              </p:cNvSpPr>
              <p:nvPr/>
            </p:nvSpPr>
            <p:spPr bwMode="auto">
              <a:xfrm>
                <a:off x="2658" y="1947"/>
                <a:ext cx="37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</a:t>
                </a:r>
                <a:endParaRPr lang="fr-FR" altLang="fr-FR"/>
              </a:p>
            </p:txBody>
          </p:sp>
          <p:sp>
            <p:nvSpPr>
              <p:cNvPr id="75" name="Rectangle 72"/>
              <p:cNvSpPr>
                <a:spLocks noChangeArrowheads="1"/>
              </p:cNvSpPr>
              <p:nvPr/>
            </p:nvSpPr>
            <p:spPr bwMode="auto">
              <a:xfrm>
                <a:off x="2680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</a:t>
                </a:r>
                <a:endParaRPr lang="fr-FR" altLang="fr-FR"/>
              </a:p>
            </p:txBody>
          </p:sp>
          <p:sp>
            <p:nvSpPr>
              <p:cNvPr id="76" name="Rectangle 73"/>
              <p:cNvSpPr>
                <a:spLocks noChangeArrowheads="1"/>
              </p:cNvSpPr>
              <p:nvPr/>
            </p:nvSpPr>
            <p:spPr bwMode="auto">
              <a:xfrm>
                <a:off x="2701" y="1947"/>
                <a:ext cx="25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77" name="Rectangle 74"/>
              <p:cNvSpPr>
                <a:spLocks noChangeArrowheads="1"/>
              </p:cNvSpPr>
              <p:nvPr/>
            </p:nvSpPr>
            <p:spPr bwMode="auto">
              <a:xfrm>
                <a:off x="2578" y="1947"/>
                <a:ext cx="38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78" name="Rectangle 75"/>
              <p:cNvSpPr>
                <a:spLocks noChangeArrowheads="1"/>
              </p:cNvSpPr>
              <p:nvPr/>
            </p:nvSpPr>
            <p:spPr bwMode="auto">
              <a:xfrm>
                <a:off x="2600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79" name="Rectangle 76"/>
              <p:cNvSpPr>
                <a:spLocks noChangeArrowheads="1"/>
              </p:cNvSpPr>
              <p:nvPr/>
            </p:nvSpPr>
            <p:spPr bwMode="auto">
              <a:xfrm>
                <a:off x="2621" y="1947"/>
                <a:ext cx="28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v</a:t>
                </a:r>
                <a:endParaRPr lang="fr-FR" altLang="fr-FR"/>
              </a:p>
            </p:txBody>
          </p:sp>
          <p:sp>
            <p:nvSpPr>
              <p:cNvPr id="80" name="Rectangle 77"/>
              <p:cNvSpPr>
                <a:spLocks noChangeArrowheads="1"/>
              </p:cNvSpPr>
              <p:nvPr/>
            </p:nvSpPr>
            <p:spPr bwMode="auto">
              <a:xfrm>
                <a:off x="2504" y="1947"/>
                <a:ext cx="3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81" name="Rectangle 78"/>
              <p:cNvSpPr>
                <a:spLocks noChangeArrowheads="1"/>
              </p:cNvSpPr>
              <p:nvPr/>
            </p:nvSpPr>
            <p:spPr bwMode="auto">
              <a:xfrm>
                <a:off x="2530" y="1947"/>
                <a:ext cx="25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82" name="Rectangle 79"/>
              <p:cNvSpPr>
                <a:spLocks noChangeArrowheads="1"/>
              </p:cNvSpPr>
              <p:nvPr/>
            </p:nvSpPr>
            <p:spPr bwMode="auto">
              <a:xfrm>
                <a:off x="2548" y="1947"/>
                <a:ext cx="1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  <p:sp>
            <p:nvSpPr>
              <p:cNvPr id="83" name="Rectangle 80"/>
              <p:cNvSpPr>
                <a:spLocks noChangeArrowheads="1"/>
              </p:cNvSpPr>
              <p:nvPr/>
            </p:nvSpPr>
            <p:spPr bwMode="auto">
              <a:xfrm>
                <a:off x="2418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S</a:t>
                </a:r>
                <a:endParaRPr lang="fr-FR" altLang="fr-FR"/>
              </a:p>
            </p:txBody>
          </p:sp>
          <p:sp>
            <p:nvSpPr>
              <p:cNvPr id="84" name="Rectangle 81"/>
              <p:cNvSpPr>
                <a:spLocks noChangeArrowheads="1"/>
              </p:cNvSpPr>
              <p:nvPr/>
            </p:nvSpPr>
            <p:spPr bwMode="auto">
              <a:xfrm>
                <a:off x="2441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</a:t>
                </a:r>
                <a:endParaRPr lang="fr-FR" altLang="fr-FR"/>
              </a:p>
            </p:txBody>
          </p:sp>
          <p:sp>
            <p:nvSpPr>
              <p:cNvPr id="85" name="Rectangle 82"/>
              <p:cNvSpPr>
                <a:spLocks noChangeArrowheads="1"/>
              </p:cNvSpPr>
              <p:nvPr/>
            </p:nvSpPr>
            <p:spPr bwMode="auto">
              <a:xfrm>
                <a:off x="2460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</a:t>
                </a:r>
                <a:endParaRPr lang="fr-FR" altLang="fr-FR"/>
              </a:p>
            </p:txBody>
          </p:sp>
          <p:sp>
            <p:nvSpPr>
              <p:cNvPr id="86" name="Rectangle 83"/>
              <p:cNvSpPr>
                <a:spLocks noChangeArrowheads="1"/>
              </p:cNvSpPr>
              <p:nvPr/>
            </p:nvSpPr>
            <p:spPr bwMode="auto">
              <a:xfrm>
                <a:off x="2341" y="1947"/>
                <a:ext cx="34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87" name="Rectangle 84"/>
              <p:cNvSpPr>
                <a:spLocks noChangeArrowheads="1"/>
              </p:cNvSpPr>
              <p:nvPr/>
            </p:nvSpPr>
            <p:spPr bwMode="auto">
              <a:xfrm>
                <a:off x="2362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u</a:t>
                </a:r>
                <a:endParaRPr lang="fr-FR" altLang="fr-FR"/>
              </a:p>
            </p:txBody>
          </p:sp>
          <p:sp>
            <p:nvSpPr>
              <p:cNvPr id="88" name="Rectangle 85"/>
              <p:cNvSpPr>
                <a:spLocks noChangeArrowheads="1"/>
              </p:cNvSpPr>
              <p:nvPr/>
            </p:nvSpPr>
            <p:spPr bwMode="auto">
              <a:xfrm>
                <a:off x="2382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g</a:t>
                </a:r>
                <a:endParaRPr lang="fr-FR" altLang="fr-FR"/>
              </a:p>
            </p:txBody>
          </p:sp>
          <p:sp>
            <p:nvSpPr>
              <p:cNvPr id="89" name="Rectangle 86"/>
              <p:cNvSpPr>
                <a:spLocks noChangeArrowheads="1"/>
              </p:cNvSpPr>
              <p:nvPr/>
            </p:nvSpPr>
            <p:spPr bwMode="auto">
              <a:xfrm>
                <a:off x="2273" y="1947"/>
                <a:ext cx="2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J</a:t>
                </a:r>
                <a:endParaRPr lang="fr-FR" altLang="fr-FR"/>
              </a:p>
            </p:txBody>
          </p:sp>
          <p:sp>
            <p:nvSpPr>
              <p:cNvPr id="90" name="Rectangle 87"/>
              <p:cNvSpPr>
                <a:spLocks noChangeArrowheads="1"/>
              </p:cNvSpPr>
              <p:nvPr/>
            </p:nvSpPr>
            <p:spPr bwMode="auto">
              <a:xfrm>
                <a:off x="2287" y="1947"/>
                <a:ext cx="3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u</a:t>
                </a:r>
                <a:endParaRPr lang="fr-FR" altLang="fr-FR"/>
              </a:p>
            </p:txBody>
          </p:sp>
          <p:sp>
            <p:nvSpPr>
              <p:cNvPr id="91" name="Rectangle 88"/>
              <p:cNvSpPr>
                <a:spLocks noChangeArrowheads="1"/>
              </p:cNvSpPr>
              <p:nvPr/>
            </p:nvSpPr>
            <p:spPr bwMode="auto">
              <a:xfrm>
                <a:off x="2306" y="1947"/>
                <a:ext cx="1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</a:t>
                </a:r>
                <a:endParaRPr lang="fr-FR" altLang="fr-FR"/>
              </a:p>
            </p:txBody>
          </p:sp>
          <p:sp>
            <p:nvSpPr>
              <p:cNvPr id="92" name="Rectangle 89"/>
              <p:cNvSpPr>
                <a:spLocks noChangeArrowheads="1"/>
              </p:cNvSpPr>
              <p:nvPr/>
            </p:nvSpPr>
            <p:spPr bwMode="auto">
              <a:xfrm>
                <a:off x="2189" y="1947"/>
                <a:ext cx="2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J</a:t>
                </a:r>
                <a:endParaRPr lang="fr-FR" altLang="fr-FR"/>
              </a:p>
            </p:txBody>
          </p:sp>
          <p:sp>
            <p:nvSpPr>
              <p:cNvPr id="93" name="Rectangle 90"/>
              <p:cNvSpPr>
                <a:spLocks noChangeArrowheads="1"/>
              </p:cNvSpPr>
              <p:nvPr/>
            </p:nvSpPr>
            <p:spPr bwMode="auto">
              <a:xfrm>
                <a:off x="2200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u</a:t>
                </a:r>
                <a:endParaRPr lang="fr-FR" altLang="fr-FR"/>
              </a:p>
            </p:txBody>
          </p:sp>
          <p:sp>
            <p:nvSpPr>
              <p:cNvPr id="94" name="Rectangle 91"/>
              <p:cNvSpPr>
                <a:spLocks noChangeArrowheads="1"/>
              </p:cNvSpPr>
              <p:nvPr/>
            </p:nvSpPr>
            <p:spPr bwMode="auto">
              <a:xfrm>
                <a:off x="2221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95" name="Rectangle 92"/>
              <p:cNvSpPr>
                <a:spLocks noChangeArrowheads="1"/>
              </p:cNvSpPr>
              <p:nvPr/>
            </p:nvSpPr>
            <p:spPr bwMode="auto">
              <a:xfrm>
                <a:off x="2099" y="1947"/>
                <a:ext cx="43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M</a:t>
                </a:r>
                <a:endParaRPr lang="fr-FR" altLang="fr-FR"/>
              </a:p>
            </p:txBody>
          </p:sp>
          <p:sp>
            <p:nvSpPr>
              <p:cNvPr id="96" name="Rectangle 93"/>
              <p:cNvSpPr>
                <a:spLocks noChangeArrowheads="1"/>
              </p:cNvSpPr>
              <p:nvPr/>
            </p:nvSpPr>
            <p:spPr bwMode="auto">
              <a:xfrm>
                <a:off x="2130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97" name="Rectangle 94"/>
              <p:cNvSpPr>
                <a:spLocks noChangeArrowheads="1"/>
              </p:cNvSpPr>
              <p:nvPr/>
            </p:nvSpPr>
            <p:spPr bwMode="auto">
              <a:xfrm>
                <a:off x="2149" y="1947"/>
                <a:ext cx="28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y</a:t>
                </a:r>
                <a:endParaRPr lang="fr-FR" altLang="fr-FR"/>
              </a:p>
            </p:txBody>
          </p:sp>
          <p:sp>
            <p:nvSpPr>
              <p:cNvPr id="98" name="Rectangle 95"/>
              <p:cNvSpPr>
                <a:spLocks noChangeArrowheads="1"/>
              </p:cNvSpPr>
              <p:nvPr/>
            </p:nvSpPr>
            <p:spPr bwMode="auto">
              <a:xfrm>
                <a:off x="2027" y="1947"/>
                <a:ext cx="34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99" name="Rectangle 96"/>
              <p:cNvSpPr>
                <a:spLocks noChangeArrowheads="1"/>
              </p:cNvSpPr>
              <p:nvPr/>
            </p:nvSpPr>
            <p:spPr bwMode="auto">
              <a:xfrm>
                <a:off x="2048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p</a:t>
                </a:r>
                <a:endParaRPr lang="fr-FR" altLang="fr-FR"/>
              </a:p>
            </p:txBody>
          </p:sp>
          <p:sp>
            <p:nvSpPr>
              <p:cNvPr id="100" name="Rectangle 97"/>
              <p:cNvSpPr>
                <a:spLocks noChangeArrowheads="1"/>
              </p:cNvSpPr>
              <p:nvPr/>
            </p:nvSpPr>
            <p:spPr bwMode="auto">
              <a:xfrm>
                <a:off x="2070" y="1947"/>
                <a:ext cx="1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101" name="Rectangle 98"/>
              <p:cNvSpPr>
                <a:spLocks noChangeArrowheads="1"/>
              </p:cNvSpPr>
              <p:nvPr/>
            </p:nvSpPr>
            <p:spPr bwMode="auto">
              <a:xfrm>
                <a:off x="1943" y="1947"/>
                <a:ext cx="4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M</a:t>
                </a:r>
                <a:endParaRPr lang="fr-FR" altLang="fr-FR"/>
              </a:p>
            </p:txBody>
          </p:sp>
          <p:sp>
            <p:nvSpPr>
              <p:cNvPr id="102" name="Rectangle 99"/>
              <p:cNvSpPr>
                <a:spLocks noChangeArrowheads="1"/>
              </p:cNvSpPr>
              <p:nvPr/>
            </p:nvSpPr>
            <p:spPr bwMode="auto">
              <a:xfrm>
                <a:off x="1973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103" name="Rectangle 100"/>
              <p:cNvSpPr>
                <a:spLocks noChangeArrowheads="1"/>
              </p:cNvSpPr>
              <p:nvPr/>
            </p:nvSpPr>
            <p:spPr bwMode="auto">
              <a:xfrm>
                <a:off x="1992" y="1947"/>
                <a:ext cx="2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104" name="Rectangle 101"/>
              <p:cNvSpPr>
                <a:spLocks noChangeArrowheads="1"/>
              </p:cNvSpPr>
              <p:nvPr/>
            </p:nvSpPr>
            <p:spPr bwMode="auto">
              <a:xfrm>
                <a:off x="1868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F</a:t>
                </a:r>
                <a:endParaRPr lang="fr-FR" altLang="fr-FR"/>
              </a:p>
            </p:txBody>
          </p:sp>
          <p:sp>
            <p:nvSpPr>
              <p:cNvPr id="105" name="Rectangle 102"/>
              <p:cNvSpPr>
                <a:spLocks noChangeArrowheads="1"/>
              </p:cNvSpPr>
              <p:nvPr/>
            </p:nvSpPr>
            <p:spPr bwMode="auto">
              <a:xfrm>
                <a:off x="1886" y="1947"/>
                <a:ext cx="29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e</a:t>
                </a:r>
                <a:endParaRPr lang="fr-FR" altLang="fr-FR"/>
              </a:p>
            </p:txBody>
          </p:sp>
          <p:sp>
            <p:nvSpPr>
              <p:cNvPr id="106" name="Rectangle 103"/>
              <p:cNvSpPr>
                <a:spLocks noChangeArrowheads="1"/>
              </p:cNvSpPr>
              <p:nvPr/>
            </p:nvSpPr>
            <p:spPr bwMode="auto">
              <a:xfrm>
                <a:off x="1906" y="1947"/>
                <a:ext cx="3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b</a:t>
                </a:r>
                <a:endParaRPr lang="fr-FR" altLang="fr-FR"/>
              </a:p>
            </p:txBody>
          </p:sp>
          <p:sp>
            <p:nvSpPr>
              <p:cNvPr id="107" name="Rectangle 104"/>
              <p:cNvSpPr>
                <a:spLocks noChangeArrowheads="1"/>
              </p:cNvSpPr>
              <p:nvPr/>
            </p:nvSpPr>
            <p:spPr bwMode="auto">
              <a:xfrm>
                <a:off x="1791" y="1947"/>
                <a:ext cx="24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J</a:t>
                </a:r>
                <a:endParaRPr lang="fr-FR" altLang="fr-FR"/>
              </a:p>
            </p:txBody>
          </p:sp>
          <p:sp>
            <p:nvSpPr>
              <p:cNvPr id="108" name="Rectangle 105"/>
              <p:cNvSpPr>
                <a:spLocks noChangeArrowheads="1"/>
              </p:cNvSpPr>
              <p:nvPr/>
            </p:nvSpPr>
            <p:spPr bwMode="auto">
              <a:xfrm>
                <a:off x="1803" y="1947"/>
                <a:ext cx="30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109" name="Rectangle 106"/>
              <p:cNvSpPr>
                <a:spLocks noChangeArrowheads="1"/>
              </p:cNvSpPr>
              <p:nvPr/>
            </p:nvSpPr>
            <p:spPr bwMode="auto">
              <a:xfrm>
                <a:off x="1823" y="1947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110" name="Line 107"/>
              <p:cNvSpPr>
                <a:spLocks noChangeShapeType="1"/>
              </p:cNvSpPr>
              <p:nvPr/>
            </p:nvSpPr>
            <p:spPr bwMode="auto">
              <a:xfrm flipH="1">
                <a:off x="1793" y="1172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1" name="Line 108"/>
              <p:cNvSpPr>
                <a:spLocks noChangeShapeType="1"/>
              </p:cNvSpPr>
              <p:nvPr/>
            </p:nvSpPr>
            <p:spPr bwMode="auto">
              <a:xfrm flipH="1">
                <a:off x="1793" y="1323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2" name="Line 109"/>
              <p:cNvSpPr>
                <a:spLocks noChangeShapeType="1"/>
              </p:cNvSpPr>
              <p:nvPr/>
            </p:nvSpPr>
            <p:spPr bwMode="auto">
              <a:xfrm flipH="1">
                <a:off x="1793" y="1477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3" name="Line 110"/>
              <p:cNvSpPr>
                <a:spLocks noChangeShapeType="1"/>
              </p:cNvSpPr>
              <p:nvPr/>
            </p:nvSpPr>
            <p:spPr bwMode="auto">
              <a:xfrm flipH="1">
                <a:off x="1793" y="1629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4" name="Line 111"/>
              <p:cNvSpPr>
                <a:spLocks noChangeShapeType="1"/>
              </p:cNvSpPr>
              <p:nvPr/>
            </p:nvSpPr>
            <p:spPr bwMode="auto">
              <a:xfrm flipH="1">
                <a:off x="1793" y="1783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5" name="Line 112"/>
              <p:cNvSpPr>
                <a:spLocks noChangeShapeType="1"/>
              </p:cNvSpPr>
              <p:nvPr/>
            </p:nvSpPr>
            <p:spPr bwMode="auto">
              <a:xfrm flipH="1">
                <a:off x="1793" y="1934"/>
                <a:ext cx="11" cy="0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6" name="Line 113"/>
              <p:cNvSpPr>
                <a:spLocks noChangeShapeType="1"/>
              </p:cNvSpPr>
              <p:nvPr/>
            </p:nvSpPr>
            <p:spPr bwMode="auto">
              <a:xfrm flipV="1">
                <a:off x="3166" y="1172"/>
                <a:ext cx="0" cy="76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7" name="Line 114"/>
              <p:cNvSpPr>
                <a:spLocks noChangeShapeType="1"/>
              </p:cNvSpPr>
              <p:nvPr/>
            </p:nvSpPr>
            <p:spPr bwMode="auto">
              <a:xfrm flipV="1">
                <a:off x="1804" y="1172"/>
                <a:ext cx="0" cy="762"/>
              </a:xfrm>
              <a:prstGeom prst="line">
                <a:avLst/>
              </a:prstGeom>
              <a:noFill/>
              <a:ln w="4763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18" name="Rectangle 115"/>
              <p:cNvSpPr>
                <a:spLocks noChangeArrowheads="1"/>
              </p:cNvSpPr>
              <p:nvPr/>
            </p:nvSpPr>
            <p:spPr bwMode="auto">
              <a:xfrm>
                <a:off x="1770" y="114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5</a:t>
                </a:r>
                <a:endParaRPr lang="fr-FR" altLang="fr-FR"/>
              </a:p>
            </p:txBody>
          </p:sp>
          <p:sp>
            <p:nvSpPr>
              <p:cNvPr id="119" name="Rectangle 116"/>
              <p:cNvSpPr>
                <a:spLocks noChangeArrowheads="1"/>
              </p:cNvSpPr>
              <p:nvPr/>
            </p:nvSpPr>
            <p:spPr bwMode="auto">
              <a:xfrm>
                <a:off x="1770" y="1302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4</a:t>
                </a:r>
                <a:endParaRPr lang="fr-FR" altLang="fr-FR"/>
              </a:p>
            </p:txBody>
          </p:sp>
          <p:sp>
            <p:nvSpPr>
              <p:cNvPr id="120" name="Rectangle 117"/>
              <p:cNvSpPr>
                <a:spLocks noChangeArrowheads="1"/>
              </p:cNvSpPr>
              <p:nvPr/>
            </p:nvSpPr>
            <p:spPr bwMode="auto">
              <a:xfrm>
                <a:off x="1770" y="1453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3</a:t>
                </a:r>
                <a:endParaRPr lang="fr-FR" altLang="fr-FR"/>
              </a:p>
            </p:txBody>
          </p:sp>
          <p:sp>
            <p:nvSpPr>
              <p:cNvPr id="121" name="Rectangle 118"/>
              <p:cNvSpPr>
                <a:spLocks noChangeArrowheads="1"/>
              </p:cNvSpPr>
              <p:nvPr/>
            </p:nvSpPr>
            <p:spPr bwMode="auto">
              <a:xfrm>
                <a:off x="1770" y="1606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2</a:t>
                </a:r>
                <a:endParaRPr lang="fr-FR" altLang="fr-FR"/>
              </a:p>
            </p:txBody>
          </p:sp>
          <p:sp>
            <p:nvSpPr>
              <p:cNvPr id="122" name="Rectangle 119"/>
              <p:cNvSpPr>
                <a:spLocks noChangeArrowheads="1"/>
              </p:cNvSpPr>
              <p:nvPr/>
            </p:nvSpPr>
            <p:spPr bwMode="auto">
              <a:xfrm>
                <a:off x="1770" y="1758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1</a:t>
                </a:r>
                <a:endParaRPr lang="fr-FR" altLang="fr-FR"/>
              </a:p>
            </p:txBody>
          </p:sp>
          <p:sp>
            <p:nvSpPr>
              <p:cNvPr id="123" name="Rectangle 120"/>
              <p:cNvSpPr>
                <a:spLocks noChangeArrowheads="1"/>
              </p:cNvSpPr>
              <p:nvPr/>
            </p:nvSpPr>
            <p:spPr bwMode="auto">
              <a:xfrm>
                <a:off x="1770" y="1912"/>
                <a:ext cx="31" cy="6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 b="0">
                    <a:solidFill>
                      <a:srgbClr val="000000"/>
                    </a:solidFill>
                    <a:latin typeface="Tahoma" panose="020B0604030504040204" pitchFamily="34" charset="0"/>
                  </a:rPr>
                  <a:t>0</a:t>
                </a:r>
                <a:endParaRPr lang="fr-FR" altLang="fr-FR"/>
              </a:p>
            </p:txBody>
          </p:sp>
          <p:sp>
            <p:nvSpPr>
              <p:cNvPr id="124" name="Freeform 121"/>
              <p:cNvSpPr>
                <a:spLocks/>
              </p:cNvSpPr>
              <p:nvPr/>
            </p:nvSpPr>
            <p:spPr bwMode="auto">
              <a:xfrm>
                <a:off x="1812" y="1232"/>
                <a:ext cx="1346" cy="488"/>
              </a:xfrm>
              <a:custGeom>
                <a:avLst/>
                <a:gdLst>
                  <a:gd name="T0" fmla="*/ 0 w 1346"/>
                  <a:gd name="T1" fmla="*/ 17 h 488"/>
                  <a:gd name="T2" fmla="*/ 80 w 1346"/>
                  <a:gd name="T3" fmla="*/ 31 h 488"/>
                  <a:gd name="T4" fmla="*/ 157 w 1346"/>
                  <a:gd name="T5" fmla="*/ 17 h 488"/>
                  <a:gd name="T6" fmla="*/ 237 w 1346"/>
                  <a:gd name="T7" fmla="*/ 31 h 488"/>
                  <a:gd name="T8" fmla="*/ 317 w 1346"/>
                  <a:gd name="T9" fmla="*/ 0 h 488"/>
                  <a:gd name="T10" fmla="*/ 394 w 1346"/>
                  <a:gd name="T11" fmla="*/ 31 h 488"/>
                  <a:gd name="T12" fmla="*/ 474 w 1346"/>
                  <a:gd name="T13" fmla="*/ 61 h 488"/>
                  <a:gd name="T14" fmla="*/ 554 w 1346"/>
                  <a:gd name="T15" fmla="*/ 31 h 488"/>
                  <a:gd name="T16" fmla="*/ 634 w 1346"/>
                  <a:gd name="T17" fmla="*/ 17 h 488"/>
                  <a:gd name="T18" fmla="*/ 711 w 1346"/>
                  <a:gd name="T19" fmla="*/ 31 h 488"/>
                  <a:gd name="T20" fmla="*/ 791 w 1346"/>
                  <a:gd name="T21" fmla="*/ 17 h 488"/>
                  <a:gd name="T22" fmla="*/ 871 w 1346"/>
                  <a:gd name="T23" fmla="*/ 474 h 488"/>
                  <a:gd name="T24" fmla="*/ 951 w 1346"/>
                  <a:gd name="T25" fmla="*/ 457 h 488"/>
                  <a:gd name="T26" fmla="*/ 1028 w 1346"/>
                  <a:gd name="T27" fmla="*/ 488 h 488"/>
                  <a:gd name="T28" fmla="*/ 1108 w 1346"/>
                  <a:gd name="T29" fmla="*/ 474 h 488"/>
                  <a:gd name="T30" fmla="*/ 1188 w 1346"/>
                  <a:gd name="T31" fmla="*/ 457 h 488"/>
                  <a:gd name="T32" fmla="*/ 1266 w 1346"/>
                  <a:gd name="T33" fmla="*/ 474 h 488"/>
                  <a:gd name="T34" fmla="*/ 1346 w 1346"/>
                  <a:gd name="T35" fmla="*/ 488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346" h="488">
                    <a:moveTo>
                      <a:pt x="0" y="17"/>
                    </a:moveTo>
                    <a:lnTo>
                      <a:pt x="80" y="31"/>
                    </a:lnTo>
                    <a:lnTo>
                      <a:pt x="157" y="17"/>
                    </a:lnTo>
                    <a:lnTo>
                      <a:pt x="237" y="31"/>
                    </a:lnTo>
                    <a:lnTo>
                      <a:pt x="317" y="0"/>
                    </a:lnTo>
                    <a:lnTo>
                      <a:pt x="394" y="31"/>
                    </a:lnTo>
                    <a:lnTo>
                      <a:pt x="474" y="61"/>
                    </a:lnTo>
                    <a:lnTo>
                      <a:pt x="554" y="31"/>
                    </a:lnTo>
                    <a:lnTo>
                      <a:pt x="634" y="17"/>
                    </a:lnTo>
                    <a:lnTo>
                      <a:pt x="711" y="31"/>
                    </a:lnTo>
                    <a:lnTo>
                      <a:pt x="791" y="17"/>
                    </a:lnTo>
                    <a:lnTo>
                      <a:pt x="871" y="474"/>
                    </a:lnTo>
                    <a:lnTo>
                      <a:pt x="951" y="457"/>
                    </a:lnTo>
                    <a:lnTo>
                      <a:pt x="1028" y="488"/>
                    </a:lnTo>
                    <a:lnTo>
                      <a:pt x="1108" y="474"/>
                    </a:lnTo>
                    <a:lnTo>
                      <a:pt x="1188" y="457"/>
                    </a:lnTo>
                    <a:lnTo>
                      <a:pt x="1266" y="474"/>
                    </a:lnTo>
                    <a:lnTo>
                      <a:pt x="1346" y="488"/>
                    </a:lnTo>
                  </a:path>
                </a:pathLst>
              </a:custGeom>
              <a:noFill/>
              <a:ln w="4763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5" name="Oval 122"/>
              <p:cNvSpPr>
                <a:spLocks noChangeArrowheads="1"/>
              </p:cNvSpPr>
              <p:nvPr/>
            </p:nvSpPr>
            <p:spPr bwMode="auto">
              <a:xfrm>
                <a:off x="3149" y="1711"/>
                <a:ext cx="20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6" name="Oval 123"/>
              <p:cNvSpPr>
                <a:spLocks noChangeArrowheads="1"/>
              </p:cNvSpPr>
              <p:nvPr/>
            </p:nvSpPr>
            <p:spPr bwMode="auto">
              <a:xfrm>
                <a:off x="3069" y="1698"/>
                <a:ext cx="20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7" name="Oval 124"/>
              <p:cNvSpPr>
                <a:spLocks noChangeArrowheads="1"/>
              </p:cNvSpPr>
              <p:nvPr/>
            </p:nvSpPr>
            <p:spPr bwMode="auto">
              <a:xfrm>
                <a:off x="2992" y="168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8" name="Oval 125"/>
              <p:cNvSpPr>
                <a:spLocks noChangeArrowheads="1"/>
              </p:cNvSpPr>
              <p:nvPr/>
            </p:nvSpPr>
            <p:spPr bwMode="auto">
              <a:xfrm>
                <a:off x="2912" y="1698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" name="Oval 126"/>
              <p:cNvSpPr>
                <a:spLocks noChangeArrowheads="1"/>
              </p:cNvSpPr>
              <p:nvPr/>
            </p:nvSpPr>
            <p:spPr bwMode="auto">
              <a:xfrm>
                <a:off x="2832" y="1711"/>
                <a:ext cx="20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0" name="Oval 127"/>
              <p:cNvSpPr>
                <a:spLocks noChangeArrowheads="1"/>
              </p:cNvSpPr>
              <p:nvPr/>
            </p:nvSpPr>
            <p:spPr bwMode="auto">
              <a:xfrm>
                <a:off x="2755" y="168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1" name="Oval 128"/>
              <p:cNvSpPr>
                <a:spLocks noChangeArrowheads="1"/>
              </p:cNvSpPr>
              <p:nvPr/>
            </p:nvSpPr>
            <p:spPr bwMode="auto">
              <a:xfrm>
                <a:off x="2675" y="1698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2" name="Oval 129"/>
              <p:cNvSpPr>
                <a:spLocks noChangeArrowheads="1"/>
              </p:cNvSpPr>
              <p:nvPr/>
            </p:nvSpPr>
            <p:spPr bwMode="auto">
              <a:xfrm>
                <a:off x="2595" y="124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3" name="Oval 130"/>
              <p:cNvSpPr>
                <a:spLocks noChangeArrowheads="1"/>
              </p:cNvSpPr>
              <p:nvPr/>
            </p:nvSpPr>
            <p:spPr bwMode="auto">
              <a:xfrm>
                <a:off x="2515" y="1254"/>
                <a:ext cx="19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4" name="Oval 131"/>
              <p:cNvSpPr>
                <a:spLocks noChangeArrowheads="1"/>
              </p:cNvSpPr>
              <p:nvPr/>
            </p:nvSpPr>
            <p:spPr bwMode="auto">
              <a:xfrm>
                <a:off x="2438" y="124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5" name="Oval 132"/>
              <p:cNvSpPr>
                <a:spLocks noChangeArrowheads="1"/>
              </p:cNvSpPr>
              <p:nvPr/>
            </p:nvSpPr>
            <p:spPr bwMode="auto">
              <a:xfrm>
                <a:off x="2358" y="1254"/>
                <a:ext cx="19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6" name="Oval 133"/>
              <p:cNvSpPr>
                <a:spLocks noChangeArrowheads="1"/>
              </p:cNvSpPr>
              <p:nvPr/>
            </p:nvSpPr>
            <p:spPr bwMode="auto">
              <a:xfrm>
                <a:off x="2278" y="1285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7" name="Oval 134"/>
              <p:cNvSpPr>
                <a:spLocks noChangeArrowheads="1"/>
              </p:cNvSpPr>
              <p:nvPr/>
            </p:nvSpPr>
            <p:spPr bwMode="auto">
              <a:xfrm>
                <a:off x="2198" y="1254"/>
                <a:ext cx="19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8" name="Oval 135"/>
              <p:cNvSpPr>
                <a:spLocks noChangeArrowheads="1"/>
              </p:cNvSpPr>
              <p:nvPr/>
            </p:nvSpPr>
            <p:spPr bwMode="auto">
              <a:xfrm>
                <a:off x="2121" y="1224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39" name="Oval 136"/>
              <p:cNvSpPr>
                <a:spLocks noChangeArrowheads="1"/>
              </p:cNvSpPr>
              <p:nvPr/>
            </p:nvSpPr>
            <p:spPr bwMode="auto">
              <a:xfrm>
                <a:off x="2041" y="1254"/>
                <a:ext cx="19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0" name="Oval 137"/>
              <p:cNvSpPr>
                <a:spLocks noChangeArrowheads="1"/>
              </p:cNvSpPr>
              <p:nvPr/>
            </p:nvSpPr>
            <p:spPr bwMode="auto">
              <a:xfrm>
                <a:off x="1961" y="124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1" name="Oval 138"/>
              <p:cNvSpPr>
                <a:spLocks noChangeArrowheads="1"/>
              </p:cNvSpPr>
              <p:nvPr/>
            </p:nvSpPr>
            <p:spPr bwMode="auto">
              <a:xfrm>
                <a:off x="1884" y="1254"/>
                <a:ext cx="19" cy="20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2" name="Oval 139"/>
              <p:cNvSpPr>
                <a:spLocks noChangeArrowheads="1"/>
              </p:cNvSpPr>
              <p:nvPr/>
            </p:nvSpPr>
            <p:spPr bwMode="auto">
              <a:xfrm>
                <a:off x="1804" y="1241"/>
                <a:ext cx="19" cy="19"/>
              </a:xfrm>
              <a:prstGeom prst="ellipse">
                <a:avLst/>
              </a:prstGeom>
              <a:solidFill>
                <a:srgbClr val="FF0000"/>
              </a:solidFill>
              <a:ln w="4763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43" name="Rectangle 140"/>
              <p:cNvSpPr>
                <a:spLocks noChangeArrowheads="1"/>
              </p:cNvSpPr>
              <p:nvPr/>
            </p:nvSpPr>
            <p:spPr bwMode="auto">
              <a:xfrm>
                <a:off x="2219" y="1076"/>
                <a:ext cx="2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</a:t>
                </a:r>
                <a:endParaRPr lang="fr-FR" altLang="fr-FR"/>
              </a:p>
            </p:txBody>
          </p:sp>
          <p:sp>
            <p:nvSpPr>
              <p:cNvPr id="144" name="Rectangle 141"/>
              <p:cNvSpPr>
                <a:spLocks noChangeArrowheads="1"/>
              </p:cNvSpPr>
              <p:nvPr/>
            </p:nvSpPr>
            <p:spPr bwMode="auto">
              <a:xfrm>
                <a:off x="2237" y="1076"/>
                <a:ext cx="3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145" name="Rectangle 142"/>
              <p:cNvSpPr>
                <a:spLocks noChangeArrowheads="1"/>
              </p:cNvSpPr>
              <p:nvPr/>
            </p:nvSpPr>
            <p:spPr bwMode="auto">
              <a:xfrm>
                <a:off x="2263" y="1076"/>
                <a:ext cx="35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d</a:t>
                </a:r>
                <a:endParaRPr lang="fr-FR" altLang="fr-FR"/>
              </a:p>
            </p:txBody>
          </p:sp>
          <p:sp>
            <p:nvSpPr>
              <p:cNvPr id="146" name="Rectangle 143"/>
              <p:cNvSpPr>
                <a:spLocks noChangeArrowheads="1"/>
              </p:cNvSpPr>
              <p:nvPr/>
            </p:nvSpPr>
            <p:spPr bwMode="auto">
              <a:xfrm>
                <a:off x="2289" y="1076"/>
                <a:ext cx="1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i</a:t>
                </a:r>
                <a:endParaRPr lang="fr-FR" altLang="fr-FR"/>
              </a:p>
            </p:txBody>
          </p:sp>
          <p:sp>
            <p:nvSpPr>
              <p:cNvPr id="147" name="Rectangle 144"/>
              <p:cNvSpPr>
                <a:spLocks noChangeArrowheads="1"/>
              </p:cNvSpPr>
              <p:nvPr/>
            </p:nvSpPr>
            <p:spPr bwMode="auto">
              <a:xfrm>
                <a:off x="2302" y="1076"/>
                <a:ext cx="29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148" name="Rectangle 145"/>
              <p:cNvSpPr>
                <a:spLocks noChangeArrowheads="1"/>
              </p:cNvSpPr>
              <p:nvPr/>
            </p:nvSpPr>
            <p:spPr bwMode="auto">
              <a:xfrm>
                <a:off x="2324" y="1076"/>
                <a:ext cx="31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149" name="Rectangle 146"/>
              <p:cNvSpPr>
                <a:spLocks noChangeArrowheads="1"/>
              </p:cNvSpPr>
              <p:nvPr/>
            </p:nvSpPr>
            <p:spPr bwMode="auto">
              <a:xfrm>
                <a:off x="2350" y="1076"/>
                <a:ext cx="2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  <p:sp>
            <p:nvSpPr>
              <p:cNvPr id="150" name="Rectangle 147"/>
              <p:cNvSpPr>
                <a:spLocks noChangeArrowheads="1"/>
              </p:cNvSpPr>
              <p:nvPr/>
            </p:nvSpPr>
            <p:spPr bwMode="auto">
              <a:xfrm>
                <a:off x="2365" y="1076"/>
                <a:ext cx="35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151" name="Rectangle 148"/>
              <p:cNvSpPr>
                <a:spLocks noChangeArrowheads="1"/>
              </p:cNvSpPr>
              <p:nvPr/>
            </p:nvSpPr>
            <p:spPr bwMode="auto">
              <a:xfrm>
                <a:off x="2392" y="1076"/>
                <a:ext cx="2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152" name="Rectangle 149"/>
              <p:cNvSpPr>
                <a:spLocks noChangeArrowheads="1"/>
              </p:cNvSpPr>
              <p:nvPr/>
            </p:nvSpPr>
            <p:spPr bwMode="auto">
              <a:xfrm>
                <a:off x="2411" y="1076"/>
                <a:ext cx="1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endParaRPr lang="fr-FR" altLang="fr-FR"/>
              </a:p>
            </p:txBody>
          </p:sp>
          <p:sp>
            <p:nvSpPr>
              <p:cNvPr id="153" name="Rectangle 150"/>
              <p:cNvSpPr>
                <a:spLocks noChangeArrowheads="1"/>
              </p:cNvSpPr>
              <p:nvPr/>
            </p:nvSpPr>
            <p:spPr bwMode="auto">
              <a:xfrm>
                <a:off x="2418" y="1076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154" name="Rectangle 151"/>
              <p:cNvSpPr>
                <a:spLocks noChangeArrowheads="1"/>
              </p:cNvSpPr>
              <p:nvPr/>
            </p:nvSpPr>
            <p:spPr bwMode="auto">
              <a:xfrm>
                <a:off x="2448" y="1076"/>
                <a:ext cx="35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155" name="Rectangle 152"/>
              <p:cNvSpPr>
                <a:spLocks noChangeArrowheads="1"/>
              </p:cNvSpPr>
              <p:nvPr/>
            </p:nvSpPr>
            <p:spPr bwMode="auto">
              <a:xfrm>
                <a:off x="2472" y="1076"/>
                <a:ext cx="3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n</a:t>
                </a:r>
                <a:endParaRPr lang="fr-FR" altLang="fr-FR"/>
              </a:p>
            </p:txBody>
          </p:sp>
          <p:sp>
            <p:nvSpPr>
              <p:cNvPr id="156" name="Rectangle 153"/>
              <p:cNvSpPr>
                <a:spLocks noChangeArrowheads="1"/>
              </p:cNvSpPr>
              <p:nvPr/>
            </p:nvSpPr>
            <p:spPr bwMode="auto">
              <a:xfrm>
                <a:off x="2498" y="1076"/>
                <a:ext cx="2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  <p:sp>
            <p:nvSpPr>
              <p:cNvPr id="157" name="Rectangle 154"/>
              <p:cNvSpPr>
                <a:spLocks noChangeArrowheads="1"/>
              </p:cNvSpPr>
              <p:nvPr/>
            </p:nvSpPr>
            <p:spPr bwMode="auto">
              <a:xfrm>
                <a:off x="2515" y="1076"/>
                <a:ext cx="2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158" name="Rectangle 155"/>
              <p:cNvSpPr>
                <a:spLocks noChangeArrowheads="1"/>
              </p:cNvSpPr>
              <p:nvPr/>
            </p:nvSpPr>
            <p:spPr bwMode="auto">
              <a:xfrm>
                <a:off x="2533" y="1076"/>
                <a:ext cx="35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o</a:t>
                </a:r>
                <a:endParaRPr lang="fr-FR" altLang="fr-FR"/>
              </a:p>
            </p:txBody>
          </p:sp>
          <p:sp>
            <p:nvSpPr>
              <p:cNvPr id="159" name="Rectangle 156"/>
              <p:cNvSpPr>
                <a:spLocks noChangeArrowheads="1"/>
              </p:cNvSpPr>
              <p:nvPr/>
            </p:nvSpPr>
            <p:spPr bwMode="auto">
              <a:xfrm>
                <a:off x="2560" y="1076"/>
                <a:ext cx="16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l</a:t>
                </a:r>
                <a:endParaRPr lang="fr-FR" altLang="fr-FR"/>
              </a:p>
            </p:txBody>
          </p:sp>
          <p:sp>
            <p:nvSpPr>
              <p:cNvPr id="160" name="Rectangle 157"/>
              <p:cNvSpPr>
                <a:spLocks noChangeArrowheads="1"/>
              </p:cNvSpPr>
              <p:nvPr/>
            </p:nvSpPr>
            <p:spPr bwMode="auto">
              <a:xfrm>
                <a:off x="2572" y="1076"/>
                <a:ext cx="17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 </a:t>
                </a:r>
                <a:endParaRPr lang="fr-FR" altLang="fr-FR"/>
              </a:p>
            </p:txBody>
          </p:sp>
          <p:sp>
            <p:nvSpPr>
              <p:cNvPr id="161" name="Rectangle 158"/>
              <p:cNvSpPr>
                <a:spLocks noChangeArrowheads="1"/>
              </p:cNvSpPr>
              <p:nvPr/>
            </p:nvSpPr>
            <p:spPr bwMode="auto">
              <a:xfrm>
                <a:off x="2582" y="1076"/>
                <a:ext cx="38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C</a:t>
                </a:r>
                <a:endParaRPr lang="fr-FR" altLang="fr-FR"/>
              </a:p>
            </p:txBody>
          </p:sp>
          <p:sp>
            <p:nvSpPr>
              <p:cNvPr id="162" name="Rectangle 159"/>
              <p:cNvSpPr>
                <a:spLocks noChangeArrowheads="1"/>
              </p:cNvSpPr>
              <p:nvPr/>
            </p:nvSpPr>
            <p:spPr bwMode="auto">
              <a:xfrm>
                <a:off x="2612" y="1076"/>
                <a:ext cx="33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h</a:t>
                </a:r>
                <a:endParaRPr lang="fr-FR" altLang="fr-FR"/>
              </a:p>
            </p:txBody>
          </p:sp>
          <p:sp>
            <p:nvSpPr>
              <p:cNvPr id="163" name="Rectangle 160"/>
              <p:cNvSpPr>
                <a:spLocks noChangeArrowheads="1"/>
              </p:cNvSpPr>
              <p:nvPr/>
            </p:nvSpPr>
            <p:spPr bwMode="auto">
              <a:xfrm>
                <a:off x="2635" y="1076"/>
                <a:ext cx="3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a</a:t>
                </a:r>
                <a:endParaRPr lang="fr-FR" altLang="fr-FR"/>
              </a:p>
            </p:txBody>
          </p:sp>
          <p:sp>
            <p:nvSpPr>
              <p:cNvPr id="164" name="Rectangle 161"/>
              <p:cNvSpPr>
                <a:spLocks noChangeArrowheads="1"/>
              </p:cNvSpPr>
              <p:nvPr/>
            </p:nvSpPr>
            <p:spPr bwMode="auto">
              <a:xfrm>
                <a:off x="2660" y="1076"/>
                <a:ext cx="2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r</a:t>
                </a:r>
                <a:endParaRPr lang="fr-FR" altLang="fr-FR"/>
              </a:p>
            </p:txBody>
          </p:sp>
          <p:sp>
            <p:nvSpPr>
              <p:cNvPr id="165" name="Rectangle 162"/>
              <p:cNvSpPr>
                <a:spLocks noChangeArrowheads="1"/>
              </p:cNvSpPr>
              <p:nvPr/>
            </p:nvSpPr>
            <p:spPr bwMode="auto">
              <a:xfrm>
                <a:off x="2681" y="1076"/>
                <a:ext cx="24" cy="6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/>
              <a:p>
                <a:pPr>
                  <a:spcBef>
                    <a:spcPct val="20000"/>
                  </a:spcBef>
                </a:pPr>
                <a:r>
                  <a:rPr lang="fr-FR" altLang="fr-FR" sz="500">
                    <a:solidFill>
                      <a:srgbClr val="000000"/>
                    </a:solidFill>
                    <a:latin typeface="Tahoma" panose="020B0604030504040204" pitchFamily="34" charset="0"/>
                  </a:rPr>
                  <a:t>t</a:t>
                </a:r>
                <a:endParaRPr lang="fr-FR" altLang="fr-FR"/>
              </a:p>
            </p:txBody>
          </p:sp>
        </p:grpSp>
        <p:cxnSp>
          <p:nvCxnSpPr>
            <p:cNvPr id="167" name="Connecteur droit 166"/>
            <p:cNvCxnSpPr/>
            <p:nvPr/>
          </p:nvCxnSpPr>
          <p:spPr>
            <a:xfrm>
              <a:off x="10050165" y="5743264"/>
              <a:ext cx="1667925" cy="0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1" name="Connecteur droit avec flèche 170"/>
          <p:cNvCxnSpPr/>
          <p:nvPr/>
        </p:nvCxnSpPr>
        <p:spPr>
          <a:xfrm flipH="1" flipV="1">
            <a:off x="4563687" y="3767184"/>
            <a:ext cx="2658748" cy="280083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ZoneTexte 172"/>
          <p:cNvSpPr txBox="1"/>
          <p:nvPr/>
        </p:nvSpPr>
        <p:spPr>
          <a:xfrm>
            <a:off x="6395972" y="5425968"/>
            <a:ext cx="36713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 smtClean="0"/>
              <a:t>Arrêt de la mesure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/>
              <a:t>Dès stabilisation 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dirty="0" smtClean="0"/>
              <a:t>Date &amp; signature</a:t>
            </a:r>
          </a:p>
        </p:txBody>
      </p:sp>
      <p:cxnSp>
        <p:nvCxnSpPr>
          <p:cNvPr id="174" name="Connecteur droit avec flèche 173"/>
          <p:cNvCxnSpPr/>
          <p:nvPr/>
        </p:nvCxnSpPr>
        <p:spPr>
          <a:xfrm flipH="1">
            <a:off x="5810596" y="3979494"/>
            <a:ext cx="878635" cy="301561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2" name="Groupe 171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75" name="ZoneTexte 17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5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77" name="Connecteur droit 176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Connecteur droit 177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Connecteur droit 178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Connecteur droit 179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836327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7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e 1"/>
          <p:cNvGrpSpPr/>
          <p:nvPr/>
        </p:nvGrpSpPr>
        <p:grpSpPr>
          <a:xfrm>
            <a:off x="0" y="0"/>
            <a:ext cx="6177069" cy="5677593"/>
            <a:chOff x="-9024" y="16953"/>
            <a:chExt cx="6795626" cy="5461132"/>
          </a:xfrm>
        </p:grpSpPr>
        <p:pic>
          <p:nvPicPr>
            <p:cNvPr id="3" name="Image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16953"/>
              <a:ext cx="6786602" cy="3798589"/>
            </a:xfrm>
            <a:prstGeom prst="rect">
              <a:avLst/>
            </a:prstGeom>
          </p:spPr>
        </p:pic>
        <p:pic>
          <p:nvPicPr>
            <p:cNvPr id="4" name="Image 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-9024" y="3152066"/>
              <a:ext cx="6787313" cy="2326019"/>
            </a:xfrm>
            <a:prstGeom prst="rect">
              <a:avLst/>
            </a:prstGeom>
          </p:spPr>
        </p:pic>
      </p:grpSp>
      <p:sp>
        <p:nvSpPr>
          <p:cNvPr id="5" name="ZoneTexte 4"/>
          <p:cNvSpPr txBox="1"/>
          <p:nvPr/>
        </p:nvSpPr>
        <p:spPr>
          <a:xfrm>
            <a:off x="7349840" y="132550"/>
            <a:ext cx="3765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7. </a:t>
            </a:r>
            <a:r>
              <a:rPr lang="fr-FR" altLang="fr-FR" dirty="0"/>
              <a:t>Prévenir la </a:t>
            </a:r>
            <a:r>
              <a:rPr lang="fr-FR" altLang="fr-FR" dirty="0" smtClean="0"/>
              <a:t>récurrence</a:t>
            </a:r>
            <a:endParaRPr lang="fr-FR" altLang="fr-FR" dirty="0"/>
          </a:p>
        </p:txBody>
      </p:sp>
      <p:cxnSp>
        <p:nvCxnSpPr>
          <p:cNvPr id="6" name="Connecteur droit avec flèche 5"/>
          <p:cNvCxnSpPr/>
          <p:nvPr/>
        </p:nvCxnSpPr>
        <p:spPr>
          <a:xfrm flipH="1">
            <a:off x="4472248" y="1005840"/>
            <a:ext cx="1421476" cy="3740727"/>
          </a:xfrm>
          <a:prstGeom prst="straightConnector1">
            <a:avLst/>
          </a:prstGeom>
          <a:ln w="349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7134225" y="656705"/>
            <a:ext cx="48277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 err="1" smtClean="0"/>
              <a:t>Poka-Yoke</a:t>
            </a:r>
            <a:r>
              <a:rPr lang="fr-FR" sz="3600" dirty="0" smtClean="0"/>
              <a:t> / détrompeur</a:t>
            </a:r>
            <a:endParaRPr lang="fr-FR" sz="3600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2268" y="3812737"/>
            <a:ext cx="2595406" cy="1798353"/>
          </a:xfrm>
          <a:prstGeom prst="rect">
            <a:avLst/>
          </a:prstGeom>
        </p:spPr>
      </p:pic>
      <p:sp>
        <p:nvSpPr>
          <p:cNvPr id="10" name="ZoneTexte 9"/>
          <p:cNvSpPr txBox="1"/>
          <p:nvPr/>
        </p:nvSpPr>
        <p:spPr>
          <a:xfrm>
            <a:off x="6542116" y="1303036"/>
            <a:ext cx="541989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/>
              <a:t>L’humain est faillible car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La distraction, le manque de concentration, la fatigue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Une mauvaise communication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Le personnel non formé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Des erreurs de négligence, le non respect des règles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Le stress, les temps de contrôle insuffisants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/>
              <a:t>Le manque de standards, des standards mal définis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fr-FR" altLang="fr-FR" sz="1200" dirty="0" smtClean="0"/>
              <a:t>Très </a:t>
            </a:r>
            <a:r>
              <a:rPr lang="fr-FR" altLang="fr-FR" sz="1200" dirty="0"/>
              <a:t>rarement … des erreurs intentionnelles</a:t>
            </a:r>
          </a:p>
          <a:p>
            <a:endParaRPr lang="fr-FR" dirty="0"/>
          </a:p>
        </p:txBody>
      </p:sp>
      <p:cxnSp>
        <p:nvCxnSpPr>
          <p:cNvPr id="12" name="Connecteur droit avec flèche 11"/>
          <p:cNvCxnSpPr/>
          <p:nvPr/>
        </p:nvCxnSpPr>
        <p:spPr>
          <a:xfrm flipH="1">
            <a:off x="5893724" y="1005840"/>
            <a:ext cx="1069051" cy="0"/>
          </a:xfrm>
          <a:prstGeom prst="straightConnector1">
            <a:avLst/>
          </a:prstGeom>
          <a:ln w="3492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ZoneTexte 13"/>
          <p:cNvSpPr txBox="1"/>
          <p:nvPr/>
        </p:nvSpPr>
        <p:spPr>
          <a:xfrm>
            <a:off x="6542115" y="2962275"/>
            <a:ext cx="5335559" cy="13942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fr-FR" altLang="fr-FR" dirty="0" smtClean="0"/>
              <a:t>Objectif</a:t>
            </a:r>
            <a:endParaRPr lang="fr-FR" altLang="fr-FR" dirty="0"/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fr-FR" altLang="fr-FR" sz="1400" b="1" dirty="0">
                <a:solidFill>
                  <a:srgbClr val="FF0000"/>
                </a:solidFill>
              </a:rPr>
              <a:t>Empêcher les erreurs de se </a:t>
            </a:r>
            <a:r>
              <a:rPr lang="fr-FR" altLang="fr-FR" sz="1400" b="1" dirty="0" smtClean="0">
                <a:solidFill>
                  <a:srgbClr val="FF0000"/>
                </a:solidFill>
              </a:rPr>
              <a:t>produire</a:t>
            </a:r>
            <a:endParaRPr lang="fr-FR" altLang="fr-FR" sz="1400" b="1" dirty="0">
              <a:solidFill>
                <a:srgbClr val="FF0000"/>
              </a:solidFill>
            </a:endParaRPr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fr-FR" altLang="fr-FR" sz="1400" dirty="0"/>
              <a:t>ou </a:t>
            </a:r>
            <a:r>
              <a:rPr lang="fr-FR" altLang="fr-FR" sz="1400" b="1" dirty="0"/>
              <a:t>détecter les erreurs </a:t>
            </a:r>
            <a:r>
              <a:rPr lang="fr-FR" altLang="fr-FR" sz="1400" dirty="0"/>
              <a:t>avant qu‘elles ne créent un défaut,</a:t>
            </a:r>
          </a:p>
          <a:p>
            <a:pPr marL="742950" lvl="1" indent="-285750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fr-FR" altLang="fr-FR" sz="1400" dirty="0"/>
              <a:t>ou </a:t>
            </a:r>
            <a:r>
              <a:rPr lang="fr-FR" altLang="fr-FR" sz="1400" b="1" dirty="0"/>
              <a:t>détecter immédiatement un défaut </a:t>
            </a:r>
            <a:r>
              <a:rPr lang="fr-FR" altLang="fr-FR" sz="1400" dirty="0"/>
              <a:t>pour empêcher qu’il arrive jusqu’au client </a:t>
            </a:r>
          </a:p>
          <a:p>
            <a:endParaRPr lang="fr-FR" dirty="0"/>
          </a:p>
        </p:txBody>
      </p:sp>
      <p:sp>
        <p:nvSpPr>
          <p:cNvPr id="16" name="Rectangle 15"/>
          <p:cNvSpPr/>
          <p:nvPr/>
        </p:nvSpPr>
        <p:spPr>
          <a:xfrm>
            <a:off x="6542115" y="5307238"/>
            <a:ext cx="3705313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fr-FR" dirty="0" smtClean="0">
                <a:solidFill>
                  <a:srgbClr val="FF0000"/>
                </a:solidFill>
              </a:rPr>
              <a:t>Ne sont pas des </a:t>
            </a:r>
            <a:r>
              <a:rPr lang="fr-FR" altLang="fr-FR" dirty="0" err="1" smtClean="0">
                <a:solidFill>
                  <a:srgbClr val="FF0000"/>
                </a:solidFill>
              </a:rPr>
              <a:t>poka-yoke</a:t>
            </a:r>
            <a:r>
              <a:rPr lang="fr-FR" altLang="fr-FR" dirty="0" smtClean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fr-FR" sz="1400" dirty="0" smtClean="0"/>
              <a:t>La </a:t>
            </a:r>
            <a:r>
              <a:rPr lang="fr-FR" altLang="fr-FR" sz="1400" b="1" dirty="0"/>
              <a:t>formation des opérateurs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fr-FR" sz="1400" dirty="0"/>
              <a:t>Les </a:t>
            </a:r>
            <a:r>
              <a:rPr lang="fr-FR" altLang="fr-FR" sz="1400" b="1" dirty="0"/>
              <a:t>modes opératoires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altLang="fr-FR" sz="1400" dirty="0"/>
              <a:t>La </a:t>
            </a:r>
            <a:r>
              <a:rPr lang="fr-FR" altLang="fr-FR" sz="1400" b="1" dirty="0"/>
              <a:t>discipline</a:t>
            </a:r>
            <a:r>
              <a:rPr lang="fr-FR" altLang="fr-FR" sz="1400" dirty="0"/>
              <a:t> vis-à-vis des </a:t>
            </a:r>
            <a:r>
              <a:rPr lang="fr-FR" altLang="fr-FR" sz="1400" dirty="0" smtClean="0"/>
              <a:t>opérateurs</a:t>
            </a:r>
          </a:p>
          <a:p>
            <a:pPr lvl="1"/>
            <a:r>
              <a:rPr lang="fr-FR" altLang="fr-FR" dirty="0" smtClean="0"/>
              <a:t>Pourquoi?</a:t>
            </a:r>
            <a:endParaRPr lang="fr-FR" altLang="fr-FR" dirty="0"/>
          </a:p>
        </p:txBody>
      </p:sp>
      <p:grpSp>
        <p:nvGrpSpPr>
          <p:cNvPr id="13" name="Groupe 1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15" name="ZoneTexte 14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5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17" name="Connecteur droit 16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eur droit 19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4097511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4" grpId="0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ZoneTexte 13"/>
          <p:cNvSpPr txBox="1"/>
          <p:nvPr/>
        </p:nvSpPr>
        <p:spPr>
          <a:xfrm>
            <a:off x="408133" y="343255"/>
            <a:ext cx="11121619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800" u="sng" dirty="0" smtClean="0"/>
              <a:t>Sommaire:</a:t>
            </a:r>
          </a:p>
          <a:p>
            <a:endParaRPr lang="fr-FR" sz="4800" u="sng" dirty="0" smtClean="0"/>
          </a:p>
          <a:p>
            <a:r>
              <a:rPr lang="fr-FR" sz="4800" dirty="0" smtClean="0"/>
              <a:t>1/définition et notions primordiales</a:t>
            </a:r>
          </a:p>
          <a:p>
            <a:r>
              <a:rPr lang="fr-FR" sz="4800" dirty="0" smtClean="0"/>
              <a:t> </a:t>
            </a:r>
          </a:p>
          <a:p>
            <a:r>
              <a:rPr lang="fr-FR" sz="4800" dirty="0" smtClean="0"/>
              <a:t>2/ la fiche action industrielle typique et ses outils</a:t>
            </a:r>
          </a:p>
          <a:p>
            <a:endParaRPr lang="fr-FR" sz="4800" dirty="0"/>
          </a:p>
          <a:p>
            <a:r>
              <a:rPr lang="fr-FR" sz="4800" dirty="0" smtClean="0">
                <a:solidFill>
                  <a:srgbClr val="92D050"/>
                </a:solidFill>
              </a:rPr>
              <a:t>3/ exercices</a:t>
            </a:r>
            <a:endParaRPr lang="fr-FR" sz="4800" dirty="0">
              <a:solidFill>
                <a:srgbClr val="92D050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3742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oneTexte 12"/>
          <p:cNvSpPr txBox="1"/>
          <p:nvPr/>
        </p:nvSpPr>
        <p:spPr>
          <a:xfrm>
            <a:off x="2014451" y="1340174"/>
            <a:ext cx="81630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 smtClean="0"/>
              <a:t>Je vous remercie de votre attention</a:t>
            </a:r>
          </a:p>
          <a:p>
            <a:pPr algn="ctr"/>
            <a:endParaRPr lang="fr-FR" sz="3600" dirty="0"/>
          </a:p>
          <a:p>
            <a:pPr algn="ctr"/>
            <a:r>
              <a:rPr lang="fr-FR" sz="3600" b="1" dirty="0" smtClean="0"/>
              <a:t>Et n’hésitez pas à me contacter pour toute remarque ou suggestion</a:t>
            </a:r>
            <a:endParaRPr lang="fr-FR" sz="3600" b="1" dirty="0"/>
          </a:p>
        </p:txBody>
      </p:sp>
      <p:grpSp>
        <p:nvGrpSpPr>
          <p:cNvPr id="3" name="Groupe 2"/>
          <p:cNvGrpSpPr/>
          <p:nvPr/>
        </p:nvGrpSpPr>
        <p:grpSpPr>
          <a:xfrm>
            <a:off x="0" y="6353175"/>
            <a:ext cx="12192000" cy="504825"/>
            <a:chOff x="0" y="6353175"/>
            <a:chExt cx="12192000" cy="504825"/>
          </a:xfrm>
        </p:grpSpPr>
        <p:sp>
          <p:nvSpPr>
            <p:cNvPr id="4" name="ZoneTexte 3"/>
            <p:cNvSpPr txBox="1"/>
            <p:nvPr/>
          </p:nvSpPr>
          <p:spPr>
            <a:xfrm>
              <a:off x="0" y="6488668"/>
              <a:ext cx="1219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sz="1200" dirty="0" smtClean="0"/>
                <a:t>Vincent Bonin                                                                                                                                                                                                                                                                                  @ </a:t>
              </a:r>
              <a:r>
                <a:rPr lang="fr-FR" sz="1200" dirty="0" smtClean="0">
                  <a:hlinkClick r:id="rId2"/>
                </a:rPr>
                <a:t>vincent.bonin@uphf.fr</a:t>
              </a:r>
              <a:endParaRPr lang="fr-FR" sz="1200" dirty="0"/>
            </a:p>
          </p:txBody>
        </p:sp>
        <p:cxnSp>
          <p:nvCxnSpPr>
            <p:cNvPr id="5" name="Connecteur droit 4"/>
            <p:cNvCxnSpPr/>
            <p:nvPr/>
          </p:nvCxnSpPr>
          <p:spPr>
            <a:xfrm>
              <a:off x="0" y="6391275"/>
              <a:ext cx="1047750" cy="104775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eur droit 5"/>
            <p:cNvCxnSpPr/>
            <p:nvPr/>
          </p:nvCxnSpPr>
          <p:spPr>
            <a:xfrm rot="16200000" flipH="1">
              <a:off x="92392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eur droit 6"/>
            <p:cNvCxnSpPr/>
            <p:nvPr/>
          </p:nvCxnSpPr>
          <p:spPr>
            <a:xfrm rot="5400000">
              <a:off x="10201275" y="6600825"/>
              <a:ext cx="361950" cy="15240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eur droit 7"/>
            <p:cNvCxnSpPr/>
            <p:nvPr/>
          </p:nvCxnSpPr>
          <p:spPr>
            <a:xfrm rot="10800000" flipV="1">
              <a:off x="10458450" y="6353175"/>
              <a:ext cx="1733550" cy="13335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4810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3641</TotalTime>
  <Words>1083</Words>
  <Application>Microsoft Office PowerPoint</Application>
  <PresentationFormat>Personnalisé</PresentationFormat>
  <Paragraphs>362</Paragraphs>
  <Slides>22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23" baseType="lpstr">
      <vt:lpstr>Thème Office</vt:lpstr>
      <vt:lpstr>Diapositive 1</vt:lpstr>
      <vt:lpstr>Diapositive 2</vt:lpstr>
      <vt:lpstr>Diapositive 3</vt:lpstr>
      <vt:lpstr>Diapositive 4</vt:lpstr>
      <vt:lpstr>Les différentes variantes de gestions de problèmes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vincent bonin</dc:creator>
  <cp:lastModifiedBy>Vincent Bonin</cp:lastModifiedBy>
  <cp:revision>139</cp:revision>
  <dcterms:created xsi:type="dcterms:W3CDTF">2017-06-02T03:39:50Z</dcterms:created>
  <dcterms:modified xsi:type="dcterms:W3CDTF">2022-01-26T10:25:45Z</dcterms:modified>
</cp:coreProperties>
</file>