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rawings/drawing1.xml" ContentType="application/vnd.openxmlformats-officedocument.drawingml.chartshap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5" r:id="rId2"/>
    <p:sldId id="292" r:id="rId3"/>
    <p:sldId id="293" r:id="rId4"/>
    <p:sldId id="294" r:id="rId5"/>
    <p:sldId id="295" r:id="rId6"/>
    <p:sldId id="298" r:id="rId7"/>
    <p:sldId id="297" r:id="rId8"/>
    <p:sldId id="299" r:id="rId9"/>
    <p:sldId id="279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55B"/>
    <a:srgbClr val="23154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3043" autoAdjust="0"/>
    <p:restoredTop sz="94609" autoAdjust="0"/>
  </p:normalViewPr>
  <p:slideViewPr>
    <p:cSldViewPr snapToGrid="0">
      <p:cViewPr>
        <p:scale>
          <a:sx n="100" d="100"/>
          <a:sy n="100" d="100"/>
        </p:scale>
        <p:origin x="-954" y="-5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E:\transfert%2028_10_21\_PERSO\_auto%20entreprise\CHV\sant&#233;%20publique\donn&#233;es%20de%20sujets%20amco\TABLEAUX%20AUDREY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fr-FR"/>
  <c:chart>
    <c:autoTitleDeleted val="1"/>
    <c:plotArea>
      <c:layout>
        <c:manualLayout>
          <c:layoutTarget val="inner"/>
          <c:xMode val="edge"/>
          <c:yMode val="edge"/>
          <c:x val="0.10049219130172682"/>
          <c:y val="8.2285094795654684E-2"/>
          <c:w val="0.62959275107142854"/>
          <c:h val="0.77652936733255051"/>
        </c:manualLayout>
      </c:layout>
      <c:barChart>
        <c:barDir val="col"/>
        <c:grouping val="clustered"/>
        <c:ser>
          <c:idx val="0"/>
          <c:order val="0"/>
          <c:tx>
            <c:strRef>
              <c:f>pareto!$C$26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pareto!$B$27:$B$49</c:f>
              <c:strCache>
                <c:ptCount val="23"/>
                <c:pt idx="0">
                  <c:v>Radio</c:v>
                </c:pt>
                <c:pt idx="1">
                  <c:v>Rhumato</c:v>
                </c:pt>
                <c:pt idx="2">
                  <c:v>Ophtalmo</c:v>
                </c:pt>
                <c:pt idx="3">
                  <c:v>Diabeto</c:v>
                </c:pt>
                <c:pt idx="4">
                  <c:v>Neurolog</c:v>
                </c:pt>
                <c:pt idx="5">
                  <c:v>Dermato</c:v>
                </c:pt>
                <c:pt idx="6">
                  <c:v>EMG</c:v>
                </c:pt>
                <c:pt idx="7">
                  <c:v>Anesth</c:v>
                </c:pt>
                <c:pt idx="8">
                  <c:v>Nephro</c:v>
                </c:pt>
                <c:pt idx="9">
                  <c:v>Chir vasc</c:v>
                </c:pt>
                <c:pt idx="10">
                  <c:v>PT Cardio</c:v>
                </c:pt>
                <c:pt idx="11">
                  <c:v>Pneumo</c:v>
                </c:pt>
                <c:pt idx="12">
                  <c:v>Pediatrie</c:v>
                </c:pt>
                <c:pt idx="13">
                  <c:v>Urgence</c:v>
                </c:pt>
                <c:pt idx="14">
                  <c:v>Gériatrie</c:v>
                </c:pt>
                <c:pt idx="15">
                  <c:v>Onco</c:v>
                </c:pt>
                <c:pt idx="16">
                  <c:v>EEG</c:v>
                </c:pt>
                <c:pt idx="17">
                  <c:v>hdj hemato</c:v>
                </c:pt>
                <c:pt idx="18">
                  <c:v>Chir tho</c:v>
                </c:pt>
                <c:pt idx="19">
                  <c:v>Admissions</c:v>
                </c:pt>
                <c:pt idx="20">
                  <c:v>Cardio enft</c:v>
                </c:pt>
                <c:pt idx="21">
                  <c:v>Pt gastro</c:v>
                </c:pt>
                <c:pt idx="22">
                  <c:v>CETD</c:v>
                </c:pt>
              </c:strCache>
            </c:strRef>
          </c:cat>
          <c:val>
            <c:numRef>
              <c:f>pareto!$C$27:$C$49</c:f>
              <c:numCache>
                <c:formatCode>General</c:formatCode>
                <c:ptCount val="23"/>
                <c:pt idx="0">
                  <c:v>45</c:v>
                </c:pt>
                <c:pt idx="1">
                  <c:v>15</c:v>
                </c:pt>
                <c:pt idx="2">
                  <c:v>13</c:v>
                </c:pt>
                <c:pt idx="3">
                  <c:v>12</c:v>
                </c:pt>
                <c:pt idx="4">
                  <c:v>10</c:v>
                </c:pt>
                <c:pt idx="5">
                  <c:v>9</c:v>
                </c:pt>
                <c:pt idx="6">
                  <c:v>7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4</c:v>
                </c:pt>
                <c:pt idx="11">
                  <c:v>3</c:v>
                </c:pt>
                <c:pt idx="12">
                  <c:v>3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</c:numCache>
            </c:numRef>
          </c:val>
        </c:ser>
        <c:ser>
          <c:idx val="1"/>
          <c:order val="1"/>
          <c:tx>
            <c:strRef>
              <c:f>pareto!$D$26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pareto!$B$27:$B$49</c:f>
              <c:strCache>
                <c:ptCount val="23"/>
                <c:pt idx="0">
                  <c:v>Radio</c:v>
                </c:pt>
                <c:pt idx="1">
                  <c:v>Rhumato</c:v>
                </c:pt>
                <c:pt idx="2">
                  <c:v>Ophtalmo</c:v>
                </c:pt>
                <c:pt idx="3">
                  <c:v>Diabeto</c:v>
                </c:pt>
                <c:pt idx="4">
                  <c:v>Neurolog</c:v>
                </c:pt>
                <c:pt idx="5">
                  <c:v>Dermato</c:v>
                </c:pt>
                <c:pt idx="6">
                  <c:v>EMG</c:v>
                </c:pt>
                <c:pt idx="7">
                  <c:v>Anesth</c:v>
                </c:pt>
                <c:pt idx="8">
                  <c:v>Nephro</c:v>
                </c:pt>
                <c:pt idx="9">
                  <c:v>Chir vasc</c:v>
                </c:pt>
                <c:pt idx="10">
                  <c:v>PT Cardio</c:v>
                </c:pt>
                <c:pt idx="11">
                  <c:v>Pneumo</c:v>
                </c:pt>
                <c:pt idx="12">
                  <c:v>Pediatrie</c:v>
                </c:pt>
                <c:pt idx="13">
                  <c:v>Urgence</c:v>
                </c:pt>
                <c:pt idx="14">
                  <c:v>Gériatrie</c:v>
                </c:pt>
                <c:pt idx="15">
                  <c:v>Onco</c:v>
                </c:pt>
                <c:pt idx="16">
                  <c:v>EEG</c:v>
                </c:pt>
                <c:pt idx="17">
                  <c:v>hdj hemato</c:v>
                </c:pt>
                <c:pt idx="18">
                  <c:v>Chir tho</c:v>
                </c:pt>
                <c:pt idx="19">
                  <c:v>Admissions</c:v>
                </c:pt>
                <c:pt idx="20">
                  <c:v>Cardio enft</c:v>
                </c:pt>
                <c:pt idx="21">
                  <c:v>Pt gastro</c:v>
                </c:pt>
                <c:pt idx="22">
                  <c:v>CETD</c:v>
                </c:pt>
              </c:strCache>
            </c:strRef>
          </c:cat>
          <c:val>
            <c:numRef>
              <c:f>pareto!$D$27:$D$49</c:f>
              <c:numCache>
                <c:formatCode>0.00%</c:formatCode>
                <c:ptCount val="23"/>
                <c:pt idx="0">
                  <c:v>0.30610000000000015</c:v>
                </c:pt>
                <c:pt idx="1">
                  <c:v>0.10199999999999998</c:v>
                </c:pt>
                <c:pt idx="2">
                  <c:v>8.8400000000000034E-2</c:v>
                </c:pt>
                <c:pt idx="3">
                  <c:v>8.1600000000000034E-2</c:v>
                </c:pt>
                <c:pt idx="4">
                  <c:v>6.8000000000000033E-2</c:v>
                </c:pt>
                <c:pt idx="5">
                  <c:v>6.1200000000000004E-2</c:v>
                </c:pt>
                <c:pt idx="6">
                  <c:v>4.7600000000000017E-2</c:v>
                </c:pt>
                <c:pt idx="7">
                  <c:v>3.4000000000000002E-2</c:v>
                </c:pt>
                <c:pt idx="8">
                  <c:v>3.4000000000000002E-2</c:v>
                </c:pt>
                <c:pt idx="9">
                  <c:v>3.4000000000000002E-2</c:v>
                </c:pt>
                <c:pt idx="10">
                  <c:v>2.7200000000000016E-2</c:v>
                </c:pt>
                <c:pt idx="11">
                  <c:v>2.0400000000000008E-2</c:v>
                </c:pt>
                <c:pt idx="12">
                  <c:v>2.0400000000000008E-2</c:v>
                </c:pt>
                <c:pt idx="13">
                  <c:v>1.3599999999999999E-2</c:v>
                </c:pt>
                <c:pt idx="14">
                  <c:v>6.8000000000000031E-3</c:v>
                </c:pt>
                <c:pt idx="15">
                  <c:v>6.8000000000000031E-3</c:v>
                </c:pt>
                <c:pt idx="16">
                  <c:v>6.8000000000000031E-3</c:v>
                </c:pt>
                <c:pt idx="17">
                  <c:v>6.8000000000000031E-3</c:v>
                </c:pt>
                <c:pt idx="18">
                  <c:v>6.8000000000000031E-3</c:v>
                </c:pt>
                <c:pt idx="19">
                  <c:v>6.8000000000000031E-3</c:v>
                </c:pt>
                <c:pt idx="20">
                  <c:v>6.8000000000000031E-3</c:v>
                </c:pt>
                <c:pt idx="21">
                  <c:v>6.8000000000000031E-3</c:v>
                </c:pt>
                <c:pt idx="22">
                  <c:v>6.8000000000000031E-3</c:v>
                </c:pt>
              </c:numCache>
            </c:numRef>
          </c:val>
        </c:ser>
        <c:axId val="83278464"/>
        <c:axId val="83288448"/>
      </c:barChart>
      <c:lineChart>
        <c:grouping val="standard"/>
        <c:ser>
          <c:idx val="2"/>
          <c:order val="2"/>
          <c:tx>
            <c:strRef>
              <c:f>pareto!$E$26</c:f>
              <c:strCache>
                <c:ptCount val="1"/>
                <c:pt idx="0">
                  <c:v>% Cumulés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pareto!$B$27:$B$49</c:f>
              <c:strCache>
                <c:ptCount val="23"/>
                <c:pt idx="0">
                  <c:v>Radio</c:v>
                </c:pt>
                <c:pt idx="1">
                  <c:v>Rhumato</c:v>
                </c:pt>
                <c:pt idx="2">
                  <c:v>Ophtalmo</c:v>
                </c:pt>
                <c:pt idx="3">
                  <c:v>Diabeto</c:v>
                </c:pt>
                <c:pt idx="4">
                  <c:v>Neurolog</c:v>
                </c:pt>
                <c:pt idx="5">
                  <c:v>Dermato</c:v>
                </c:pt>
                <c:pt idx="6">
                  <c:v>EMG</c:v>
                </c:pt>
                <c:pt idx="7">
                  <c:v>Anesth</c:v>
                </c:pt>
                <c:pt idx="8">
                  <c:v>Nephro</c:v>
                </c:pt>
                <c:pt idx="9">
                  <c:v>Chir vasc</c:v>
                </c:pt>
                <c:pt idx="10">
                  <c:v>PT Cardio</c:v>
                </c:pt>
                <c:pt idx="11">
                  <c:v>Pneumo</c:v>
                </c:pt>
                <c:pt idx="12">
                  <c:v>Pediatrie</c:v>
                </c:pt>
                <c:pt idx="13">
                  <c:v>Urgence</c:v>
                </c:pt>
                <c:pt idx="14">
                  <c:v>Gériatrie</c:v>
                </c:pt>
                <c:pt idx="15">
                  <c:v>Onco</c:v>
                </c:pt>
                <c:pt idx="16">
                  <c:v>EEG</c:v>
                </c:pt>
                <c:pt idx="17">
                  <c:v>hdj hemato</c:v>
                </c:pt>
                <c:pt idx="18">
                  <c:v>Chir tho</c:v>
                </c:pt>
                <c:pt idx="19">
                  <c:v>Admissions</c:v>
                </c:pt>
                <c:pt idx="20">
                  <c:v>Cardio enft</c:v>
                </c:pt>
                <c:pt idx="21">
                  <c:v>Pt gastro</c:v>
                </c:pt>
                <c:pt idx="22">
                  <c:v>CETD</c:v>
                </c:pt>
              </c:strCache>
            </c:strRef>
          </c:cat>
          <c:val>
            <c:numRef>
              <c:f>pareto!$E$27:$E$49</c:f>
              <c:numCache>
                <c:formatCode>0.00%</c:formatCode>
                <c:ptCount val="23"/>
                <c:pt idx="0">
                  <c:v>0.30610000000000015</c:v>
                </c:pt>
                <c:pt idx="1">
                  <c:v>0.40810000000000002</c:v>
                </c:pt>
                <c:pt idx="2">
                  <c:v>0.49650000000000016</c:v>
                </c:pt>
                <c:pt idx="3">
                  <c:v>0.57809999999999995</c:v>
                </c:pt>
                <c:pt idx="4">
                  <c:v>0.64610000000000023</c:v>
                </c:pt>
                <c:pt idx="5">
                  <c:v>0.70729999999999993</c:v>
                </c:pt>
                <c:pt idx="6">
                  <c:v>0.75490000000000024</c:v>
                </c:pt>
                <c:pt idx="7">
                  <c:v>0.78889999999999993</c:v>
                </c:pt>
                <c:pt idx="8">
                  <c:v>0.8229000000000003</c:v>
                </c:pt>
                <c:pt idx="9">
                  <c:v>0.85690000000000033</c:v>
                </c:pt>
                <c:pt idx="10">
                  <c:v>0.88410000000000022</c:v>
                </c:pt>
                <c:pt idx="11">
                  <c:v>0.90449999999999997</c:v>
                </c:pt>
                <c:pt idx="12">
                  <c:v>0.92489999999999994</c:v>
                </c:pt>
                <c:pt idx="13">
                  <c:v>0.93849999999999989</c:v>
                </c:pt>
                <c:pt idx="14">
                  <c:v>0.94529999999999992</c:v>
                </c:pt>
                <c:pt idx="15">
                  <c:v>0.95209999999999995</c:v>
                </c:pt>
                <c:pt idx="16">
                  <c:v>0.95890000000000031</c:v>
                </c:pt>
                <c:pt idx="17">
                  <c:v>0.96570000000000034</c:v>
                </c:pt>
                <c:pt idx="18">
                  <c:v>0.97249999999999981</c:v>
                </c:pt>
                <c:pt idx="19">
                  <c:v>0.97930000000000017</c:v>
                </c:pt>
                <c:pt idx="20">
                  <c:v>0.98610000000000009</c:v>
                </c:pt>
                <c:pt idx="21">
                  <c:v>0.99290000000000012</c:v>
                </c:pt>
                <c:pt idx="22">
                  <c:v>0.99970000000000014</c:v>
                </c:pt>
              </c:numCache>
            </c:numRef>
          </c:val>
        </c:ser>
        <c:marker val="1"/>
        <c:axId val="83291520"/>
        <c:axId val="83289984"/>
      </c:lineChart>
      <c:catAx>
        <c:axId val="83278464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83288448"/>
        <c:crosses val="autoZero"/>
        <c:auto val="1"/>
        <c:lblAlgn val="ctr"/>
        <c:lblOffset val="100"/>
      </c:catAx>
      <c:valAx>
        <c:axId val="83288448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83278464"/>
        <c:crosses val="autoZero"/>
        <c:crossBetween val="between"/>
      </c:valAx>
      <c:valAx>
        <c:axId val="83289984"/>
        <c:scaling>
          <c:orientation val="minMax"/>
        </c:scaling>
        <c:axPos val="r"/>
        <c:numFmt formatCode="0.00%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83291520"/>
        <c:crosses val="max"/>
        <c:crossBetween val="between"/>
      </c:valAx>
      <c:catAx>
        <c:axId val="83291520"/>
        <c:scaling>
          <c:orientation val="minMax"/>
        </c:scaling>
        <c:delete val="1"/>
        <c:axPos val="b"/>
        <c:numFmt formatCode="General" sourceLinked="1"/>
        <c:majorTickMark val="none"/>
        <c:tickLblPos val="nextTo"/>
        <c:crossAx val="83289984"/>
        <c:crosses val="autoZero"/>
        <c:auto val="1"/>
        <c:lblAlgn val="ctr"/>
        <c:lblOffset val="100"/>
      </c:catAx>
      <c:spPr>
        <a:noFill/>
        <a:ln>
          <a:noFill/>
        </a:ln>
        <a:effectLst/>
      </c:spPr>
    </c:plotArea>
    <c:plotVisOnly val="1"/>
    <c:dispBlanksAs val="gap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1"/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0.10127</cdr:x>
      <cdr:y>0.07754</cdr:y>
    </cdr:from>
    <cdr:to>
      <cdr:x>0.73742</cdr:x>
      <cdr:y>0.85624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697982" y="462639"/>
          <a:ext cx="4384558" cy="464608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41275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fr-FR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F1240-5C11-4B1F-B138-B6165B7BD186}" type="datetimeFigureOut">
              <a:rPr lang="fr-FR" smtClean="0"/>
              <a:pPr/>
              <a:t>22/02/2022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8D5C3-0B5C-4C25-A8FE-3397432BBE5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22/02/2022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831226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22/02/2022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90003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22/02/2022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850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22/02/2022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796366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22/02/2022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312670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22/02/2022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24262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22/02/2022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1266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22/02/2022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80357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22/02/2022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438066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22/02/2022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18956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22/02/2022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53292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9F6E5-F446-4958-95F1-54FD9DCABCFA}" type="datetimeFigureOut">
              <a:rPr lang="fr-FR" smtClean="0"/>
              <a:pPr/>
              <a:t>22/02/2022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78211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vincent.bonin@uphf.fr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vincent.bonin@uphf.f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vincent.bonin@uphf.fr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vincent.bonin@uphf.fr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vincent.bonin@uphf.fr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vincent.bonin@uphf.fr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/>
          <p:cNvSpPr txBox="1"/>
          <p:nvPr/>
        </p:nvSpPr>
        <p:spPr>
          <a:xfrm>
            <a:off x="408133" y="343255"/>
            <a:ext cx="1112161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u="sng" dirty="0" smtClean="0"/>
              <a:t>Sommaire:</a:t>
            </a:r>
          </a:p>
          <a:p>
            <a:endParaRPr lang="fr-FR" sz="4800" u="sng" dirty="0" smtClean="0"/>
          </a:p>
          <a:p>
            <a:r>
              <a:rPr lang="fr-FR" sz="4800" dirty="0" smtClean="0"/>
              <a:t>1/définition et notions primordiales</a:t>
            </a:r>
          </a:p>
          <a:p>
            <a:r>
              <a:rPr lang="fr-FR" sz="4800" dirty="0" smtClean="0"/>
              <a:t> </a:t>
            </a:r>
          </a:p>
          <a:p>
            <a:r>
              <a:rPr lang="fr-FR" sz="4800" dirty="0" smtClean="0"/>
              <a:t>2/ la fiche action industrielle typique et ses outils</a:t>
            </a:r>
          </a:p>
          <a:p>
            <a:endParaRPr lang="fr-FR" sz="4800" dirty="0"/>
          </a:p>
          <a:p>
            <a:r>
              <a:rPr lang="fr-FR" sz="4800" dirty="0" smtClean="0">
                <a:solidFill>
                  <a:srgbClr val="92D050"/>
                </a:solidFill>
              </a:rPr>
              <a:t>3/ exercices</a:t>
            </a:r>
            <a:endParaRPr lang="fr-FR" sz="4800" dirty="0">
              <a:solidFill>
                <a:srgbClr val="92D050"/>
              </a:solidFill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4" name="ZoneTexte 3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2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5" name="Connecteur droit 4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5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3742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00025" y="142875"/>
            <a:ext cx="116681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EXERCICE PARETO / ABC</a:t>
            </a:r>
            <a:endParaRPr lang="fr-F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1000" y="1233488"/>
            <a:ext cx="8678863" cy="503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ZoneTexte 6"/>
          <p:cNvSpPr txBox="1"/>
          <p:nvPr/>
        </p:nvSpPr>
        <p:spPr>
          <a:xfrm>
            <a:off x="161925" y="590550"/>
            <a:ext cx="11668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Résultats d’une batonage de terrain dans le problème de </a:t>
            </a:r>
          </a:p>
          <a:p>
            <a:r>
              <a:rPr lang="fr-FR" dirty="0" smtClean="0"/>
              <a:t>mauvaise orientation des patients à l’accueil physique de la prise de RDV du CHV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563" y="1204913"/>
            <a:ext cx="1533525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228600" y="152400"/>
            <a:ext cx="2552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Tri des données par ordre décroissant</a:t>
            </a:r>
            <a:endParaRPr lang="fr-FR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00475" y="1304925"/>
            <a:ext cx="2228850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3990975" y="381000"/>
            <a:ext cx="197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Passage en %</a:t>
            </a:r>
            <a:endParaRPr lang="fr-FR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86650" y="1247775"/>
            <a:ext cx="3048000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ZoneTexte 9"/>
          <p:cNvSpPr txBox="1"/>
          <p:nvPr/>
        </p:nvSpPr>
        <p:spPr>
          <a:xfrm>
            <a:off x="7448550" y="323850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% cumulé de l’indicateur</a:t>
            </a:r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7515225" y="1276350"/>
            <a:ext cx="885825" cy="4676775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9639300" y="1257300"/>
            <a:ext cx="885825" cy="4676775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7181850" y="5991225"/>
            <a:ext cx="3600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    </a:t>
            </a:r>
            <a:r>
              <a:rPr lang="fr-FR" dirty="0" err="1" smtClean="0"/>
              <a:t>absice</a:t>
            </a:r>
            <a:r>
              <a:rPr lang="fr-FR" dirty="0" smtClean="0"/>
              <a:t> X            +          ordonnée Y</a:t>
            </a:r>
          </a:p>
          <a:p>
            <a:r>
              <a:rPr lang="fr-FR" dirty="0" smtClean="0"/>
              <a:t>                  = courbe de </a:t>
            </a:r>
            <a:r>
              <a:rPr lang="fr-FR" dirty="0" err="1" smtClean="0"/>
              <a:t>pareto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  <p:bldP spid="11" grpId="0" animBg="1"/>
      <p:bldP spid="12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aphique 3"/>
          <p:cNvGraphicFramePr/>
          <p:nvPr/>
        </p:nvGraphicFramePr>
        <p:xfrm>
          <a:off x="335279" y="398145"/>
          <a:ext cx="6892291" cy="5966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Connecteur droit 5"/>
          <p:cNvCxnSpPr/>
          <p:nvPr/>
        </p:nvCxnSpPr>
        <p:spPr>
          <a:xfrm rot="16200000" flipH="1">
            <a:off x="900112" y="985837"/>
            <a:ext cx="4648200" cy="4391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 rot="16200000" flipV="1">
            <a:off x="2424113" y="2500313"/>
            <a:ext cx="3076575" cy="291465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6000750" y="142875"/>
            <a:ext cx="4095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[AB]=</a:t>
            </a:r>
            <a:r>
              <a:rPr lang="fr-FR" dirty="0" smtClean="0"/>
              <a:t>17.5 =&gt; RD= 0.6628</a:t>
            </a:r>
            <a:endParaRPr lang="fr-FR" dirty="0" smtClean="0"/>
          </a:p>
          <a:p>
            <a:r>
              <a:rPr lang="fr-FR" dirty="0" smtClean="0"/>
              <a:t>[AC]=</a:t>
            </a:r>
            <a:r>
              <a:rPr lang="fr-FR" dirty="0" smtClean="0"/>
              <a:t>11.6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 </a:t>
            </a:r>
          </a:p>
          <a:p>
            <a:endParaRPr lang="fr-FR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 l="17486"/>
          <a:stretch>
            <a:fillRect/>
          </a:stretch>
        </p:blipFill>
        <p:spPr bwMode="auto">
          <a:xfrm>
            <a:off x="6029325" y="1662113"/>
            <a:ext cx="1977681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81700" y="3104620"/>
            <a:ext cx="3171825" cy="3745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Connecteur droit avec flèche 12"/>
          <p:cNvCxnSpPr/>
          <p:nvPr/>
        </p:nvCxnSpPr>
        <p:spPr>
          <a:xfrm>
            <a:off x="1028700" y="6105525"/>
            <a:ext cx="923925" cy="9525"/>
          </a:xfrm>
          <a:prstGeom prst="straightConnector1">
            <a:avLst/>
          </a:prstGeom>
          <a:ln w="38100">
            <a:solidFill>
              <a:srgbClr val="FF0000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1771650" y="6219825"/>
            <a:ext cx="1524000" cy="9525"/>
          </a:xfrm>
          <a:prstGeom prst="straightConnector1">
            <a:avLst/>
          </a:prstGeom>
          <a:ln w="38100">
            <a:solidFill>
              <a:srgbClr val="FFC000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3105150" y="6362700"/>
            <a:ext cx="2276475" cy="1588"/>
          </a:xfrm>
          <a:prstGeom prst="straightConnector1">
            <a:avLst/>
          </a:prstGeom>
          <a:ln w="38100">
            <a:solidFill>
              <a:srgbClr val="92D050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963025" y="0"/>
            <a:ext cx="2812019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Connecteur droit avec flèche 13"/>
          <p:cNvCxnSpPr/>
          <p:nvPr/>
        </p:nvCxnSpPr>
        <p:spPr>
          <a:xfrm>
            <a:off x="7953375" y="504825"/>
            <a:ext cx="1009650" cy="676275"/>
          </a:xfrm>
          <a:prstGeom prst="straightConnector1">
            <a:avLst/>
          </a:prstGeom>
          <a:ln w="412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7915275" y="1895475"/>
            <a:ext cx="3724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</a:t>
            </a:r>
            <a:r>
              <a:rPr lang="fr-FR" dirty="0" smtClean="0"/>
              <a:t>de 1 à 20% = population </a:t>
            </a:r>
            <a:r>
              <a:rPr lang="fr-FR" dirty="0" err="1" smtClean="0"/>
              <a:t>impactante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7905750" y="2124075"/>
            <a:ext cx="3724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</a:t>
            </a:r>
            <a:r>
              <a:rPr lang="fr-FR" dirty="0" smtClean="0"/>
              <a:t>de 21 à </a:t>
            </a:r>
            <a:r>
              <a:rPr lang="fr-FR" dirty="0" smtClean="0"/>
              <a:t>5</a:t>
            </a:r>
            <a:r>
              <a:rPr lang="fr-FR" dirty="0" smtClean="0"/>
              <a:t>0% = population moyenne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7915275" y="2419350"/>
            <a:ext cx="427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</a:t>
            </a:r>
            <a:r>
              <a:rPr lang="fr-FR" dirty="0" smtClean="0"/>
              <a:t>de 51 à 100% = population non </a:t>
            </a:r>
            <a:r>
              <a:rPr lang="fr-FR" dirty="0" err="1" smtClean="0"/>
              <a:t>impactante</a:t>
            </a:r>
            <a:endParaRPr lang="fr-FR" dirty="0"/>
          </a:p>
        </p:txBody>
      </p:sp>
      <p:cxnSp>
        <p:nvCxnSpPr>
          <p:cNvPr id="20" name="Connecteur droit avec flèche 19"/>
          <p:cNvCxnSpPr/>
          <p:nvPr/>
        </p:nvCxnSpPr>
        <p:spPr>
          <a:xfrm rot="16200000" flipH="1">
            <a:off x="8158163" y="3690938"/>
            <a:ext cx="685800" cy="9525"/>
          </a:xfrm>
          <a:prstGeom prst="straightConnector1">
            <a:avLst/>
          </a:prstGeom>
          <a:ln w="38100">
            <a:solidFill>
              <a:srgbClr val="FF0000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rot="16200000" flipH="1">
            <a:off x="7996237" y="4519612"/>
            <a:ext cx="1181100" cy="9525"/>
          </a:xfrm>
          <a:prstGeom prst="straightConnector1">
            <a:avLst/>
          </a:prstGeom>
          <a:ln w="38100">
            <a:solidFill>
              <a:srgbClr val="FFC000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rot="5400000">
            <a:off x="7748588" y="5919788"/>
            <a:ext cx="1866900" cy="9525"/>
          </a:xfrm>
          <a:prstGeom prst="straightConnector1">
            <a:avLst/>
          </a:prstGeom>
          <a:ln w="38100">
            <a:solidFill>
              <a:srgbClr val="92D050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9258300" y="2857500"/>
            <a:ext cx="2714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De la POPULATION selon l’indicateur  étudié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9" grpId="0"/>
      <p:bldP spid="16" grpId="0"/>
      <p:bldP spid="18" grpId="0"/>
      <p:bldP spid="19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76201" y="161925"/>
            <a:ext cx="119443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Recherche de solution dans le problème de mauvaise orientation des patients à l’accueil physique de la prise de RDV du CHV 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85750" y="847725"/>
            <a:ext cx="116967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u="sng" dirty="0" smtClean="0"/>
              <a:t>Contexte : </a:t>
            </a:r>
            <a:r>
              <a:rPr lang="fr-FR" dirty="0" smtClean="0"/>
              <a:t>des patients dirigés par l’accueil vers le bureau de prise de RDV physique des consultations alors qu’il devraient aller chercher un RDV directement dans le différents services</a:t>
            </a:r>
          </a:p>
          <a:p>
            <a:pPr>
              <a:buFont typeface="Wingdings" pitchFamily="2" charset="2"/>
              <a:buChar char="Ø"/>
            </a:pPr>
            <a:endParaRPr lang="fr-FR" dirty="0" smtClean="0"/>
          </a:p>
          <a:p>
            <a:pPr>
              <a:buFont typeface="Wingdings" pitchFamily="2" charset="2"/>
              <a:buChar char="Ø"/>
            </a:pPr>
            <a:r>
              <a:rPr lang="fr-FR" u="sng" dirty="0" smtClean="0"/>
              <a:t>Réaliser une analyse  8D </a:t>
            </a:r>
            <a:r>
              <a:rPr lang="fr-FR" dirty="0" smtClean="0"/>
              <a:t>en vous positionnant comme des intervenants extérieurs par groupe de X (voire enseignant)</a:t>
            </a:r>
          </a:p>
          <a:p>
            <a:pPr>
              <a:buFont typeface="Wingdings" pitchFamily="2" charset="2"/>
              <a:buChar char="Ø"/>
            </a:pPr>
            <a:endParaRPr lang="fr-FR" dirty="0" smtClean="0"/>
          </a:p>
          <a:p>
            <a:pPr>
              <a:buFont typeface="Wingdings" pitchFamily="2" charset="2"/>
              <a:buChar char="Ø"/>
            </a:pPr>
            <a:r>
              <a:rPr lang="fr-FR" u="sng" dirty="0" smtClean="0"/>
              <a:t>Ressource : </a:t>
            </a:r>
          </a:p>
          <a:p>
            <a:pPr lvl="1">
              <a:buFont typeface="Arial" pitchFamily="34" charset="0"/>
              <a:buChar char="•"/>
            </a:pPr>
            <a:r>
              <a:rPr lang="fr-FR" dirty="0" smtClean="0"/>
              <a:t>   l’enseignant qui peut répondre à toutes vos questions de par son expérience sur ce sujet</a:t>
            </a:r>
          </a:p>
          <a:p>
            <a:pPr lvl="1">
              <a:buFont typeface="Arial" pitchFamily="34" charset="0"/>
              <a:buChar char="•"/>
            </a:pPr>
            <a:r>
              <a:rPr lang="fr-FR" dirty="0" smtClean="0"/>
              <a:t>   les données du Pareto correspondent au batonage de ce problème</a:t>
            </a:r>
          </a:p>
          <a:p>
            <a:endParaRPr lang="fr-FR" dirty="0" smtClean="0"/>
          </a:p>
          <a:p>
            <a:endParaRPr lang="fr-FR" dirty="0"/>
          </a:p>
        </p:txBody>
      </p:sp>
      <p:grpSp>
        <p:nvGrpSpPr>
          <p:cNvPr id="4" name="Groupe 3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5" name="ZoneTexte 4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2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6" name="Connecteur droit 5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8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4038601" y="342900"/>
            <a:ext cx="280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SOLUTION PAGE SUIVANTE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819150" y="1000125"/>
            <a:ext cx="10439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La solution présentée est un cas réel </a:t>
            </a:r>
          </a:p>
          <a:p>
            <a:endParaRPr lang="fr-FR" i="1" u="sng" dirty="0" smtClean="0"/>
          </a:p>
          <a:p>
            <a:r>
              <a:rPr lang="fr-FR" i="1" u="sng" dirty="0" smtClean="0"/>
              <a:t>Nb: </a:t>
            </a:r>
            <a:r>
              <a:rPr lang="fr-FR" i="1" dirty="0" smtClean="0"/>
              <a:t>vous remarquerez que la forme que prends le A3 fiche action dans ce centre hospitalier ne prends pas exactement la forme présentée auparavant mais à été adapté à la situation, au mode de pensée et de management médical.  </a:t>
            </a:r>
            <a:endParaRPr lang="fr-FR" i="1" dirty="0"/>
          </a:p>
        </p:txBody>
      </p:sp>
      <p:grpSp>
        <p:nvGrpSpPr>
          <p:cNvPr id="4" name="Groupe 3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5" name="ZoneTexte 4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2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6" name="Connecteur droit 5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8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400000">
            <a:off x="2192446" y="-1293707"/>
            <a:ext cx="6719673" cy="9583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1087100" y="5495925"/>
            <a:ext cx="209550" cy="942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e 3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5" name="ZoneTexte 4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3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6" name="Connecteur droit 5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8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6749" y="159113"/>
            <a:ext cx="9763125" cy="668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e 2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4" name="ZoneTexte 3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3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5" name="Connecteur droit 4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5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/>
          <p:cNvSpPr txBox="1"/>
          <p:nvPr/>
        </p:nvSpPr>
        <p:spPr>
          <a:xfrm>
            <a:off x="2014451" y="1340174"/>
            <a:ext cx="81630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 smtClean="0"/>
              <a:t>Je vous remercie de votre attention</a:t>
            </a:r>
          </a:p>
          <a:p>
            <a:pPr algn="ctr"/>
            <a:endParaRPr lang="fr-FR" sz="3600" dirty="0"/>
          </a:p>
          <a:p>
            <a:pPr algn="ctr"/>
            <a:r>
              <a:rPr lang="fr-FR" sz="3600" b="1" dirty="0" smtClean="0"/>
              <a:t>Et n’hésitez pas à me contacter pour toute remarque ou suggestion</a:t>
            </a:r>
            <a:endParaRPr lang="fr-FR" sz="3600" b="1" dirty="0"/>
          </a:p>
        </p:txBody>
      </p:sp>
      <p:grpSp>
        <p:nvGrpSpPr>
          <p:cNvPr id="3" name="Groupe 2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4" name="ZoneTexte 3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2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5" name="Connecteur droit 4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5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481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3690</TotalTime>
  <Words>309</Words>
  <Application>Microsoft Office PowerPoint</Application>
  <PresentationFormat>Personnalisé</PresentationFormat>
  <Paragraphs>44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vincent bonin</dc:creator>
  <cp:lastModifiedBy>Vincent Bonin</cp:lastModifiedBy>
  <cp:revision>147</cp:revision>
  <dcterms:created xsi:type="dcterms:W3CDTF">2017-06-02T03:39:50Z</dcterms:created>
  <dcterms:modified xsi:type="dcterms:W3CDTF">2022-02-22T15:38:24Z</dcterms:modified>
</cp:coreProperties>
</file>